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Raleway"/>
      <p:regular r:id="rId37"/>
      <p:bold r:id="rId38"/>
      <p:italic r:id="rId39"/>
      <p:boldItalic r:id="rId40"/>
    </p:embeddedFont>
    <p:embeddedFont>
      <p:font typeface="Lat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84BEDB-6955-4F6C-8EA5-796442457265}">
  <a:tblStyle styleId="{FC84BEDB-6955-4F6C-8EA5-79644245726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EACE58E-CB96-47D2-AB08-0E283A20B21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Italic.fntdata"/><Relationship Id="rId20" Type="http://schemas.openxmlformats.org/officeDocument/2006/relationships/slide" Target="slides/slide14.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6.xml"/><Relationship Id="rId44" Type="http://schemas.openxmlformats.org/officeDocument/2006/relationships/font" Target="fonts/Lato-boldItalic.fntdata"/><Relationship Id="rId21" Type="http://schemas.openxmlformats.org/officeDocument/2006/relationships/slide" Target="slides/slide15.xml"/><Relationship Id="rId43" Type="http://schemas.openxmlformats.org/officeDocument/2006/relationships/font" Target="fonts/Lato-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aleway-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aleway-italic.fntdata"/><Relationship Id="rId16" Type="http://schemas.openxmlformats.org/officeDocument/2006/relationships/slide" Target="slides/slide10.xml"/><Relationship Id="rId38" Type="http://schemas.openxmlformats.org/officeDocument/2006/relationships/font" Target="fonts/Raleway-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f88252dc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f88252dc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f88252dc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f88252dc4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f88252dc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f88252dc4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f88252dc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f88252dc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f88252dc4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f88252dc4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f88252dc4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f88252dc4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b5d665fd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8b5d665fd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b5d665fd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b5d665fd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b5d665fd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b5d665fd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b5d665fd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8b5d665fd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b5d665fd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b5d665fd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b5d665fd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8b5d665fd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b5d665fd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b5d665fd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b5d665fd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8b5d665fd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8b5d665fd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8b5d665fd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b5d665fd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b5d665fd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b5d665fd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8b5d665fd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8b5d665fd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8b5d665fd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b5d665fd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8b5d665fd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b5d665fd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8b5d665fd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f88252dc4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f88252dc4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88252dc4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88252dc4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542a2195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542a2195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54c3b0a7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54c3b0a7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f88252dc4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f88252dc4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54c3b0a7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54c3b0a7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f88252dc4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f88252dc4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577f259c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d577f259c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8b5d665fd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8b5d665fd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descr="shutterstock_429987889_edited.jpg" id="10" name="Google Shape;10;p2"/>
          <p:cNvPicPr preferRelativeResize="0"/>
          <p:nvPr/>
        </p:nvPicPr>
        <p:blipFill rotWithShape="1">
          <a:blip r:embed="rId2">
            <a:alphaModFix/>
          </a:blip>
          <a:srcRect b="23591" l="0" r="0" t="21800"/>
          <a:stretch/>
        </p:blipFill>
        <p:spPr>
          <a:xfrm>
            <a:off x="0" y="487825"/>
            <a:ext cx="9144000" cy="4655676"/>
          </a:xfrm>
          <a:prstGeom prst="rect">
            <a:avLst/>
          </a:prstGeom>
          <a:noFill/>
          <a:ln>
            <a:noFill/>
          </a:ln>
        </p:spPr>
      </p:pic>
      <p:sp>
        <p:nvSpPr>
          <p:cNvPr id="11" name="Google Shape;11;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830392" y="1191256"/>
            <a:ext cx="745763" cy="45826"/>
            <a:chOff x="4580561" y="2589004"/>
            <a:chExt cx="1064464" cy="25200"/>
          </a:xfrm>
        </p:grpSpPr>
        <p:sp>
          <p:nvSpPr>
            <p:cNvPr id="13" name="Google Shape;13;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6" name="Google Shape;16;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7" name="Google Shape;17;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8" name="Google Shape;18;p2"/>
          <p:cNvSpPr txBox="1"/>
          <p:nvPr/>
        </p:nvSpPr>
        <p:spPr>
          <a:xfrm>
            <a:off x="226550" y="78500"/>
            <a:ext cx="9981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latin typeface="Raleway"/>
                <a:ea typeface="Raleway"/>
                <a:cs typeface="Raleway"/>
                <a:sym typeface="Raleway"/>
              </a:rPr>
              <a:t>Confidencial</a:t>
            </a:r>
            <a:endParaRPr b="1" sz="600">
              <a:latin typeface="Raleway"/>
              <a:ea typeface="Raleway"/>
              <a:cs typeface="Raleway"/>
              <a:sym typeface="Raleway"/>
            </a:endParaRPr>
          </a:p>
        </p:txBody>
      </p:sp>
      <p:sp>
        <p:nvSpPr>
          <p:cNvPr id="19" name="Google Shape;19;p2"/>
          <p:cNvSpPr txBox="1"/>
          <p:nvPr/>
        </p:nvSpPr>
        <p:spPr>
          <a:xfrm>
            <a:off x="1296767" y="78500"/>
            <a:ext cx="21006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latin typeface="Raleway"/>
                <a:ea typeface="Raleway"/>
                <a:cs typeface="Raleway"/>
                <a:sym typeface="Raleway"/>
              </a:rPr>
              <a:t>Personalizado para </a:t>
            </a:r>
            <a:r>
              <a:rPr b="1" lang="es" sz="600">
                <a:latin typeface="Raleway"/>
                <a:ea typeface="Raleway"/>
                <a:cs typeface="Raleway"/>
                <a:sym typeface="Raleway"/>
              </a:rPr>
              <a:t>Nombre de la empresa</a:t>
            </a:r>
            <a:endParaRPr sz="600">
              <a:latin typeface="Raleway"/>
              <a:ea typeface="Raleway"/>
              <a:cs typeface="Raleway"/>
              <a:sym typeface="Raleway"/>
            </a:endParaRPr>
          </a:p>
        </p:txBody>
      </p:sp>
      <p:sp>
        <p:nvSpPr>
          <p:cNvPr id="20" name="Google Shape;20;p2"/>
          <p:cNvSpPr txBox="1"/>
          <p:nvPr/>
        </p:nvSpPr>
        <p:spPr>
          <a:xfrm>
            <a:off x="8213935" y="78500"/>
            <a:ext cx="705900" cy="32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s" sz="600">
                <a:latin typeface="Raleway"/>
                <a:ea typeface="Raleway"/>
                <a:cs typeface="Raleway"/>
                <a:sym typeface="Raleway"/>
              </a:rPr>
              <a:t>Versión 1.0</a:t>
            </a:r>
            <a:endParaRPr b="1" sz="600">
              <a:latin typeface="Raleway"/>
              <a:ea typeface="Raleway"/>
              <a:cs typeface="Raleway"/>
              <a:sym typeface="Raleway"/>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alt1">
  <p:cSld name="TITLE_1">
    <p:bg>
      <p:bgPr>
        <a:solidFill>
          <a:schemeClr val="lt2"/>
        </a:solidFill>
      </p:bgPr>
    </p:bg>
    <p:spTree>
      <p:nvGrpSpPr>
        <p:cNvPr id="21" name="Shape 21"/>
        <p:cNvGrpSpPr/>
        <p:nvPr/>
      </p:nvGrpSpPr>
      <p:grpSpPr>
        <a:xfrm>
          <a:off x="0" y="0"/>
          <a:ext cx="0" cy="0"/>
          <a:chOff x="0" y="0"/>
          <a:chExt cx="0" cy="0"/>
        </a:xfrm>
      </p:grpSpPr>
      <p:pic>
        <p:nvPicPr>
          <p:cNvPr descr="shutterstock_429987889_edited.jpg" id="22" name="Google Shape;22;p3"/>
          <p:cNvPicPr preferRelativeResize="0"/>
          <p:nvPr/>
        </p:nvPicPr>
        <p:blipFill rotWithShape="1">
          <a:blip r:embed="rId2">
            <a:alphaModFix/>
          </a:blip>
          <a:srcRect b="23591" l="0" r="0" t="21800"/>
          <a:stretch/>
        </p:blipFill>
        <p:spPr>
          <a:xfrm>
            <a:off x="0" y="487825"/>
            <a:ext cx="9144000" cy="4655676"/>
          </a:xfrm>
          <a:prstGeom prst="rect">
            <a:avLst/>
          </a:prstGeom>
          <a:noFill/>
          <a:ln>
            <a:noFill/>
          </a:ln>
        </p:spPr>
      </p:pic>
      <p:sp>
        <p:nvSpPr>
          <p:cNvPr id="23" name="Google Shape;23;p3"/>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 name="Google Shape;24;p3"/>
          <p:cNvGrpSpPr/>
          <p:nvPr/>
        </p:nvGrpSpPr>
        <p:grpSpPr>
          <a:xfrm>
            <a:off x="830392" y="1191256"/>
            <a:ext cx="745763" cy="45826"/>
            <a:chOff x="4580561" y="2589004"/>
            <a:chExt cx="1064464" cy="25200"/>
          </a:xfrm>
        </p:grpSpPr>
        <p:sp>
          <p:nvSpPr>
            <p:cNvPr id="25" name="Google Shape;25;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 name="Google Shape;27;p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28" name="Google Shape;28;p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9" name="Google Shape;29;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30" name="Google Shape;30;p3">
            <a:hlinkClick action="ppaction://hlinksldjump" r:id="rId3"/>
          </p:cNvPr>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 name="Google Shape;31;p3">
            <a:hlinkClick action="ppaction://hlinksldjump" r:id="rId4"/>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32" name="Google Shape;32;p3">
            <a:hlinkClick action="ppaction://hlinksldjump" r:id="rId5"/>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33" name="Google Shape;33;p3">
            <a:hlinkClick action="ppaction://hlinksldjump" r:id="rId6"/>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4"/>
          <p:cNvGrpSpPr/>
          <p:nvPr/>
        </p:nvGrpSpPr>
        <p:grpSpPr>
          <a:xfrm>
            <a:off x="830392" y="1191256"/>
            <a:ext cx="745763" cy="45826"/>
            <a:chOff x="4580561" y="2589004"/>
            <a:chExt cx="1064464" cy="25200"/>
          </a:xfrm>
        </p:grpSpPr>
        <p:sp>
          <p:nvSpPr>
            <p:cNvPr id="36" name="Google Shape;36;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9" name="Google Shape;39;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40" name="Google Shape;40;p4">
            <a:hlinkClick action="ppaction://hlinksldjump" r:id="rId2"/>
          </p:cNvPr>
          <p:cNvSpPr/>
          <p:nvPr/>
        </p:nvSpPr>
        <p:spPr>
          <a:xfrm>
            <a:off x="8280450" y="0"/>
            <a:ext cx="863400" cy="45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4">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42" name="Google Shape;42;p4">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43" name="Google Shape;43;p4">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5"/>
          <p:cNvGrpSpPr/>
          <p:nvPr/>
        </p:nvGrpSpPr>
        <p:grpSpPr>
          <a:xfrm>
            <a:off x="830392" y="1191256"/>
            <a:ext cx="745763" cy="45826"/>
            <a:chOff x="4580561" y="2589004"/>
            <a:chExt cx="1064464" cy="25200"/>
          </a:xfrm>
        </p:grpSpPr>
        <p:sp>
          <p:nvSpPr>
            <p:cNvPr id="47" name="Google Shape;47;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0" name="Google Shape;50;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1" name="Google Shape;51;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52" name="Google Shape;52;p5">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 name="Google Shape;53;p5">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54" name="Google Shape;54;p5">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55" name="Google Shape;55;p5">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only">
  <p:cSld name="TITLE_AND_BODY_1">
    <p:spTree>
      <p:nvGrpSpPr>
        <p:cNvPr id="56" name="Shape 56"/>
        <p:cNvGrpSpPr/>
        <p:nvPr/>
      </p:nvGrpSpPr>
      <p:grpSpPr>
        <a:xfrm>
          <a:off x="0" y="0"/>
          <a:ext cx="0" cy="0"/>
          <a:chOff x="0" y="0"/>
          <a:chExt cx="0" cy="0"/>
        </a:xfrm>
      </p:grpSpPr>
      <p:sp>
        <p:nvSpPr>
          <p:cNvPr id="57" name="Google Shape;57;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59" name="Google Shape;59;p6">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6">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61" name="Google Shape;61;p6">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62" name="Google Shape;62;p6">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63" name="Google Shape;63;p6"/>
          <p:cNvSpPr txBox="1"/>
          <p:nvPr>
            <p:ph idx="1" type="body"/>
          </p:nvPr>
        </p:nvSpPr>
        <p:spPr>
          <a:xfrm>
            <a:off x="729450" y="1068650"/>
            <a:ext cx="7688700" cy="1034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2">
  <p:cSld name="TITLE_AND_BODY_1_1">
    <p:spTree>
      <p:nvGrpSpPr>
        <p:cNvPr id="64" name="Shape 64"/>
        <p:cNvGrpSpPr/>
        <p:nvPr/>
      </p:nvGrpSpPr>
      <p:grpSpPr>
        <a:xfrm>
          <a:off x="0" y="0"/>
          <a:ext cx="0" cy="0"/>
          <a:chOff x="0" y="0"/>
          <a:chExt cx="0" cy="0"/>
        </a:xfrm>
      </p:grpSpPr>
      <p:pic>
        <p:nvPicPr>
          <p:cNvPr descr="shutterstock_31891705.jpg" id="65" name="Google Shape;65;p7"/>
          <p:cNvPicPr preferRelativeResize="0"/>
          <p:nvPr/>
        </p:nvPicPr>
        <p:blipFill rotWithShape="1">
          <a:blip r:embed="rId2">
            <a:alphaModFix/>
          </a:blip>
          <a:srcRect b="11971" l="0" r="0" t="11971"/>
          <a:stretch/>
        </p:blipFill>
        <p:spPr>
          <a:xfrm>
            <a:off x="0" y="487825"/>
            <a:ext cx="9143999" cy="4655673"/>
          </a:xfrm>
          <a:prstGeom prst="rect">
            <a:avLst/>
          </a:prstGeom>
          <a:noFill/>
          <a:ln>
            <a:noFill/>
          </a:ln>
        </p:spPr>
      </p:pic>
      <p:sp>
        <p:nvSpPr>
          <p:cNvPr id="66" name="Google Shape;66;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s"/>
              <a:t>‹#›</a:t>
            </a:fld>
            <a:endParaRPr/>
          </a:p>
        </p:txBody>
      </p:sp>
      <p:sp>
        <p:nvSpPr>
          <p:cNvPr id="68" name="Google Shape;68;p7">
            <a:hlinkClick action="ppaction://hlinksldjump" r:id="rId3"/>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 name="Google Shape;69;p7">
            <a:hlinkClick action="ppaction://hlinksldjump" r:id="rId4"/>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70" name="Google Shape;70;p7">
            <a:hlinkClick action="ppaction://hlinksldjump" r:id="rId5"/>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71" name="Google Shape;71;p7">
            <a:hlinkClick action="ppaction://hlinksldjump" r:id="rId6"/>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
        <p:nvSpPr>
          <p:cNvPr id="72" name="Google Shape;72;p7"/>
          <p:cNvSpPr txBox="1"/>
          <p:nvPr>
            <p:ph type="title"/>
          </p:nvPr>
        </p:nvSpPr>
        <p:spPr>
          <a:xfrm>
            <a:off x="729450" y="2056375"/>
            <a:ext cx="58875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 name="Google Shape;75;p8"/>
          <p:cNvGrpSpPr/>
          <p:nvPr/>
        </p:nvGrpSpPr>
        <p:grpSpPr>
          <a:xfrm>
            <a:off x="830392" y="1191256"/>
            <a:ext cx="745763" cy="45826"/>
            <a:chOff x="4580561" y="2589004"/>
            <a:chExt cx="1064464" cy="25200"/>
          </a:xfrm>
        </p:grpSpPr>
        <p:sp>
          <p:nvSpPr>
            <p:cNvPr id="76" name="Google Shape;76;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79" name="Google Shape;79;p8"/>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0" name="Google Shape;80;p8"/>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1" name="Google Shape;81;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82" name="Google Shape;82;p8">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8">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84" name="Google Shape;84;p8">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85" name="Google Shape;85;p8">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9"/>
          <p:cNvGrpSpPr/>
          <p:nvPr/>
        </p:nvGrpSpPr>
        <p:grpSpPr>
          <a:xfrm>
            <a:off x="830392" y="1191256"/>
            <a:ext cx="745763" cy="45826"/>
            <a:chOff x="4580561" y="2589004"/>
            <a:chExt cx="1064464" cy="25200"/>
          </a:xfrm>
        </p:grpSpPr>
        <p:sp>
          <p:nvSpPr>
            <p:cNvPr id="89" name="Google Shape;8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9"/>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92" name="Google Shape;92;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93" name="Google Shape;93;p9">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 name="Google Shape;94;p9">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95" name="Google Shape;95;p9">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96" name="Google Shape;96;p9">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7" name="Shape 97"/>
        <p:cNvGrpSpPr/>
        <p:nvPr/>
      </p:nvGrpSpPr>
      <p:grpSpPr>
        <a:xfrm>
          <a:off x="0" y="0"/>
          <a:ext cx="0" cy="0"/>
          <a:chOff x="0" y="0"/>
          <a:chExt cx="0" cy="0"/>
        </a:xfrm>
      </p:grpSpPr>
      <p:sp>
        <p:nvSpPr>
          <p:cNvPr id="98" name="Google Shape;98;p1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0"/>
          <p:cNvGrpSpPr/>
          <p:nvPr/>
        </p:nvGrpSpPr>
        <p:grpSpPr>
          <a:xfrm>
            <a:off x="830392" y="1191256"/>
            <a:ext cx="745763" cy="45826"/>
            <a:chOff x="4580561" y="2589004"/>
            <a:chExt cx="1064464" cy="25200"/>
          </a:xfrm>
        </p:grpSpPr>
        <p:sp>
          <p:nvSpPr>
            <p:cNvPr id="100" name="Google Shape;100;p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10"/>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3" name="Google Shape;103;p10"/>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4" name="Google Shape;104;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05" name="Google Shape;105;p10">
            <a:hlinkClick action="ppaction://hlinksldjump" r:id="rId2"/>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10">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07" name="Google Shape;107;p10">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08" name="Google Shape;108;p10">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09" name="Shape 109"/>
        <p:cNvGrpSpPr/>
        <p:nvPr/>
      </p:nvGrpSpPr>
      <p:grpSpPr>
        <a:xfrm>
          <a:off x="0" y="0"/>
          <a:ext cx="0" cy="0"/>
          <a:chOff x="0" y="0"/>
          <a:chExt cx="0" cy="0"/>
        </a:xfrm>
      </p:grpSpPr>
      <p:grpSp>
        <p:nvGrpSpPr>
          <p:cNvPr id="110" name="Google Shape;110;p11"/>
          <p:cNvGrpSpPr/>
          <p:nvPr/>
        </p:nvGrpSpPr>
        <p:grpSpPr>
          <a:xfrm>
            <a:off x="830392" y="4169130"/>
            <a:ext cx="745763" cy="45826"/>
            <a:chOff x="4580561" y="2589004"/>
            <a:chExt cx="1064464" cy="25200"/>
          </a:xfrm>
        </p:grpSpPr>
        <p:sp>
          <p:nvSpPr>
            <p:cNvPr id="111" name="Google Shape;111;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1"/>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14" name="Google Shape;114;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15" name="Google Shape;115;p11">
            <a:hlinkClick action="ppaction://hlinksldjump" r:id="rId2"/>
          </p:cNvPr>
          <p:cNvSpPr/>
          <p:nvPr/>
        </p:nvSpPr>
        <p:spPr>
          <a:xfrm>
            <a:off x="8280450" y="0"/>
            <a:ext cx="863400" cy="454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 name="Google Shape;116;p11">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17" name="Google Shape;117;p11">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18" name="Google Shape;118;p11">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9" name="Shape 119"/>
        <p:cNvGrpSpPr/>
        <p:nvPr/>
      </p:nvGrpSpPr>
      <p:grpSpPr>
        <a:xfrm>
          <a:off x="0" y="0"/>
          <a:ext cx="0" cy="0"/>
          <a:chOff x="0" y="0"/>
          <a:chExt cx="0" cy="0"/>
        </a:xfrm>
      </p:grpSpPr>
      <p:sp>
        <p:nvSpPr>
          <p:cNvPr id="120" name="Google Shape;120;p1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12"/>
          <p:cNvGrpSpPr/>
          <p:nvPr/>
        </p:nvGrpSpPr>
        <p:grpSpPr>
          <a:xfrm>
            <a:off x="830392" y="1191256"/>
            <a:ext cx="745763" cy="45826"/>
            <a:chOff x="4580561" y="2589004"/>
            <a:chExt cx="1064464" cy="25200"/>
          </a:xfrm>
        </p:grpSpPr>
        <p:sp>
          <p:nvSpPr>
            <p:cNvPr id="122" name="Google Shape;122;p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5" name="Google Shape;125;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6" name="Google Shape;126;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28" name="Google Shape;128;p12">
            <a:hlinkClick action="ppaction://hlinksldjump" r:id="rId2"/>
          </p:cNvPr>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2">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0" name="Google Shape;130;p12">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1" name="Google Shape;131;p12">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13"/>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34" name="Google Shape;134;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35" name="Google Shape;135;p13">
            <a:hlinkClick action="ppaction://hlinksldjump" r:id="rId2"/>
          </p:cNvPr>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 name="Google Shape;136;p13">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7" name="Google Shape;137;p13">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8" name="Google Shape;138;p13">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39" name="Shape 139"/>
        <p:cNvGrpSpPr/>
        <p:nvPr/>
      </p:nvGrpSpPr>
      <p:grpSpPr>
        <a:xfrm>
          <a:off x="0" y="0"/>
          <a:ext cx="0" cy="0"/>
          <a:chOff x="0" y="0"/>
          <a:chExt cx="0" cy="0"/>
        </a:xfrm>
      </p:grpSpPr>
      <p:grpSp>
        <p:nvGrpSpPr>
          <p:cNvPr id="140" name="Google Shape;140;p14"/>
          <p:cNvGrpSpPr/>
          <p:nvPr/>
        </p:nvGrpSpPr>
        <p:grpSpPr>
          <a:xfrm>
            <a:off x="830392" y="4169130"/>
            <a:ext cx="745763" cy="45826"/>
            <a:chOff x="4580561" y="2589004"/>
            <a:chExt cx="1064464" cy="25200"/>
          </a:xfrm>
        </p:grpSpPr>
        <p:sp>
          <p:nvSpPr>
            <p:cNvPr id="141" name="Google Shape;141;p1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14"/>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44" name="Google Shape;144;p14"/>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45" name="Google Shape;145;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46" name="Google Shape;146;p14">
            <a:hlinkClick action="ppaction://hlinksldjump" r:id="rId2"/>
          </p:cNvPr>
          <p:cNvSpPr/>
          <p:nvPr/>
        </p:nvSpPr>
        <p:spPr>
          <a:xfrm>
            <a:off x="8280450" y="0"/>
            <a:ext cx="863400" cy="45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 name="Google Shape;147;p14">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48" name="Google Shape;148;p14">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49" name="Google Shape;149;p14">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2" name="Google Shape;152;p15">
            <a:hlinkClick action="ppaction://hlinksldjump" r:id="rId2"/>
          </p:cNvPr>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 name="Google Shape;153;p15">
            <a:hlinkClick action="ppaction://hlinksldjump" r:id="rId3"/>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54" name="Google Shape;154;p15">
            <a:hlinkClick action="ppaction://hlinksldjump" r:id="rId4"/>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55" name="Google Shape;155;p15">
            <a:hlinkClick action="ppaction://hlinksldjump" r:id="rId5"/>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bg>
      <p:bgPr>
        <a:solidFill>
          <a:schemeClr val="dk1"/>
        </a:solid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1308150" y="1318650"/>
            <a:ext cx="7110000" cy="535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2600"/>
              <a:buNone/>
              <a:defRPr sz="2600">
                <a:solidFill>
                  <a:srgbClr val="FFFFFF"/>
                </a:solidFill>
              </a:defRPr>
            </a:lvl1pPr>
            <a:lvl2pPr lvl="1" rtl="0">
              <a:spcBef>
                <a:spcPts val="0"/>
              </a:spcBef>
              <a:spcAft>
                <a:spcPts val="0"/>
              </a:spcAft>
              <a:buClr>
                <a:srgbClr val="FFFFFF"/>
              </a:buClr>
              <a:buSzPts val="2600"/>
              <a:buNone/>
              <a:defRPr sz="2600">
                <a:solidFill>
                  <a:srgbClr val="FFFFFF"/>
                </a:solidFill>
              </a:defRPr>
            </a:lvl2pPr>
            <a:lvl3pPr lvl="2" rtl="0">
              <a:spcBef>
                <a:spcPts val="0"/>
              </a:spcBef>
              <a:spcAft>
                <a:spcPts val="0"/>
              </a:spcAft>
              <a:buClr>
                <a:srgbClr val="FFFFFF"/>
              </a:buClr>
              <a:buSzPts val="2600"/>
              <a:buNone/>
              <a:defRPr sz="2600">
                <a:solidFill>
                  <a:srgbClr val="FFFFFF"/>
                </a:solidFill>
              </a:defRPr>
            </a:lvl3pPr>
            <a:lvl4pPr lvl="3" rtl="0">
              <a:spcBef>
                <a:spcPts val="0"/>
              </a:spcBef>
              <a:spcAft>
                <a:spcPts val="0"/>
              </a:spcAft>
              <a:buClr>
                <a:srgbClr val="FFFFFF"/>
              </a:buClr>
              <a:buSzPts val="2600"/>
              <a:buNone/>
              <a:defRPr sz="2600">
                <a:solidFill>
                  <a:srgbClr val="FFFFFF"/>
                </a:solidFill>
              </a:defRPr>
            </a:lvl4pPr>
            <a:lvl5pPr lvl="4" rtl="0">
              <a:spcBef>
                <a:spcPts val="0"/>
              </a:spcBef>
              <a:spcAft>
                <a:spcPts val="0"/>
              </a:spcAft>
              <a:buClr>
                <a:srgbClr val="FFFFFF"/>
              </a:buClr>
              <a:buSzPts val="2600"/>
              <a:buNone/>
              <a:defRPr sz="2600">
                <a:solidFill>
                  <a:srgbClr val="FFFFFF"/>
                </a:solidFill>
              </a:defRPr>
            </a:lvl5pPr>
            <a:lvl6pPr lvl="5" rtl="0">
              <a:spcBef>
                <a:spcPts val="0"/>
              </a:spcBef>
              <a:spcAft>
                <a:spcPts val="0"/>
              </a:spcAft>
              <a:buClr>
                <a:srgbClr val="FFFFFF"/>
              </a:buClr>
              <a:buSzPts val="2600"/>
              <a:buNone/>
              <a:defRPr sz="2600">
                <a:solidFill>
                  <a:srgbClr val="FFFFFF"/>
                </a:solidFill>
              </a:defRPr>
            </a:lvl6pPr>
            <a:lvl7pPr lvl="6" rtl="0">
              <a:spcBef>
                <a:spcPts val="0"/>
              </a:spcBef>
              <a:spcAft>
                <a:spcPts val="0"/>
              </a:spcAft>
              <a:buClr>
                <a:srgbClr val="FFFFFF"/>
              </a:buClr>
              <a:buSzPts val="2600"/>
              <a:buNone/>
              <a:defRPr sz="2600">
                <a:solidFill>
                  <a:srgbClr val="FFFFFF"/>
                </a:solidFill>
              </a:defRPr>
            </a:lvl7pPr>
            <a:lvl8pPr lvl="7" rtl="0">
              <a:spcBef>
                <a:spcPts val="0"/>
              </a:spcBef>
              <a:spcAft>
                <a:spcPts val="0"/>
              </a:spcAft>
              <a:buClr>
                <a:srgbClr val="FFFFFF"/>
              </a:buClr>
              <a:buSzPts val="2600"/>
              <a:buNone/>
              <a:defRPr sz="2600">
                <a:solidFill>
                  <a:srgbClr val="FFFFFF"/>
                </a:solidFill>
              </a:defRPr>
            </a:lvl8pPr>
            <a:lvl9pPr lvl="8" rtl="0">
              <a:spcBef>
                <a:spcPts val="0"/>
              </a:spcBef>
              <a:spcAft>
                <a:spcPts val="0"/>
              </a:spcAft>
              <a:buClr>
                <a:srgbClr val="FFFFFF"/>
              </a:buClr>
              <a:buSzPts val="2600"/>
              <a:buNone/>
              <a:defRPr sz="2600">
                <a:solidFill>
                  <a:srgbClr val="FFFFFF"/>
                </a:solidFill>
              </a:defRPr>
            </a:lvl9pPr>
          </a:lstStyle>
          <a:p/>
        </p:txBody>
      </p:sp>
      <p:sp>
        <p:nvSpPr>
          <p:cNvPr id="158" name="Google Shape;158;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59" name="Google Shape;159;p16"/>
          <p:cNvSpPr txBox="1"/>
          <p:nvPr/>
        </p:nvSpPr>
        <p:spPr>
          <a:xfrm>
            <a:off x="226550" y="78500"/>
            <a:ext cx="9981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rgbClr val="FFFFFF"/>
                </a:solidFill>
                <a:latin typeface="Raleway"/>
                <a:ea typeface="Raleway"/>
                <a:cs typeface="Raleway"/>
                <a:sym typeface="Raleway"/>
              </a:rPr>
              <a:t>Confidencial</a:t>
            </a:r>
            <a:endParaRPr b="1" sz="600">
              <a:solidFill>
                <a:srgbClr val="FFFFFF"/>
              </a:solidFill>
              <a:latin typeface="Raleway"/>
              <a:ea typeface="Raleway"/>
              <a:cs typeface="Raleway"/>
              <a:sym typeface="Raleway"/>
            </a:endParaRPr>
          </a:p>
        </p:txBody>
      </p:sp>
      <p:sp>
        <p:nvSpPr>
          <p:cNvPr id="160" name="Google Shape;160;p16"/>
          <p:cNvSpPr txBox="1"/>
          <p:nvPr/>
        </p:nvSpPr>
        <p:spPr>
          <a:xfrm>
            <a:off x="1296767" y="78500"/>
            <a:ext cx="21006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600">
                <a:solidFill>
                  <a:srgbClr val="FFFFFF"/>
                </a:solidFill>
                <a:latin typeface="Raleway"/>
                <a:ea typeface="Raleway"/>
                <a:cs typeface="Raleway"/>
                <a:sym typeface="Raleway"/>
              </a:rPr>
              <a:t>Personalizado para </a:t>
            </a:r>
            <a:r>
              <a:rPr b="1" lang="es" sz="600">
                <a:solidFill>
                  <a:srgbClr val="FFFFFF"/>
                </a:solidFill>
                <a:latin typeface="Raleway"/>
                <a:ea typeface="Raleway"/>
                <a:cs typeface="Raleway"/>
                <a:sym typeface="Raleway"/>
              </a:rPr>
              <a:t>Nombre de la empresa</a:t>
            </a:r>
            <a:endParaRPr sz="600">
              <a:solidFill>
                <a:srgbClr val="FFFFFF"/>
              </a:solidFill>
              <a:latin typeface="Raleway"/>
              <a:ea typeface="Raleway"/>
              <a:cs typeface="Raleway"/>
              <a:sym typeface="Raleway"/>
            </a:endParaRPr>
          </a:p>
        </p:txBody>
      </p:sp>
      <p:sp>
        <p:nvSpPr>
          <p:cNvPr id="161" name="Google Shape;161;p16"/>
          <p:cNvSpPr txBox="1"/>
          <p:nvPr/>
        </p:nvSpPr>
        <p:spPr>
          <a:xfrm>
            <a:off x="8213935" y="78500"/>
            <a:ext cx="705900" cy="32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s" sz="600">
                <a:solidFill>
                  <a:srgbClr val="FFFFFF"/>
                </a:solidFill>
                <a:latin typeface="Raleway"/>
                <a:ea typeface="Raleway"/>
                <a:cs typeface="Raleway"/>
                <a:sym typeface="Raleway"/>
              </a:rPr>
              <a:t>Versión 1.0</a:t>
            </a:r>
            <a:endParaRPr b="1" sz="600">
              <a:solidFill>
                <a:srgbClr val="FFFFFF"/>
              </a:solidFill>
              <a:latin typeface="Raleway"/>
              <a:ea typeface="Raleway"/>
              <a:cs typeface="Raleway"/>
              <a:sym typeface="Raleway"/>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1">
  <p:cSld name="SECTION_HEADER_2">
    <p:bg>
      <p:bgPr>
        <a:solidFill>
          <a:srgbClr val="434343"/>
        </a:solidFill>
      </p:bgPr>
    </p:bg>
    <p:spTree>
      <p:nvGrpSpPr>
        <p:cNvPr id="162" name="Shape 162"/>
        <p:cNvGrpSpPr/>
        <p:nvPr/>
      </p:nvGrpSpPr>
      <p:grpSpPr>
        <a:xfrm>
          <a:off x="0" y="0"/>
          <a:ext cx="0" cy="0"/>
          <a:chOff x="0" y="0"/>
          <a:chExt cx="0" cy="0"/>
        </a:xfrm>
      </p:grpSpPr>
      <p:grpSp>
        <p:nvGrpSpPr>
          <p:cNvPr id="163" name="Google Shape;163;p17"/>
          <p:cNvGrpSpPr/>
          <p:nvPr/>
        </p:nvGrpSpPr>
        <p:grpSpPr>
          <a:xfrm>
            <a:off x="830392" y="1191256"/>
            <a:ext cx="745763" cy="45826"/>
            <a:chOff x="4580561" y="2589004"/>
            <a:chExt cx="1064464" cy="25200"/>
          </a:xfrm>
        </p:grpSpPr>
        <p:sp>
          <p:nvSpPr>
            <p:cNvPr id="164" name="Google Shape;164;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67" name="Google Shape;167;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
        <p:nvSpPr>
          <p:cNvPr id="168" name="Google Shape;168;p17">
            <a:hlinkClick action="ppaction://hlinksldjump" r:id="rId2"/>
          </p:cNvPr>
          <p:cNvSpPr/>
          <p:nvPr/>
        </p:nvSpPr>
        <p:spPr>
          <a:xfrm>
            <a:off x="8280450" y="0"/>
            <a:ext cx="863400" cy="4542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17">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70" name="Google Shape;170;p17">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171" name="Google Shape;171;p17">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slide" Target="/ppt/slid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hyperlink" Target="https://drive.google.com/file/d/1cIcJi1jjjlQv-u3yrQt99IGp6x1iQk-r/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ctrTitle"/>
          </p:nvPr>
        </p:nvSpPr>
        <p:spPr>
          <a:xfrm>
            <a:off x="729575" y="1283800"/>
            <a:ext cx="7199400" cy="164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900">
                <a:solidFill>
                  <a:srgbClr val="000000"/>
                </a:solidFill>
              </a:rPr>
              <a:t>Sistema de gestión hotelera</a:t>
            </a:r>
            <a:r>
              <a:rPr lang="es" sz="4600">
                <a:solidFill>
                  <a:srgbClr val="000000"/>
                </a:solidFill>
              </a:rPr>
              <a:t> - La Grange -</a:t>
            </a:r>
            <a:endParaRPr sz="4600">
              <a:solidFill>
                <a:srgbClr val="000000"/>
              </a:solidFill>
            </a:endParaRPr>
          </a:p>
        </p:txBody>
      </p:sp>
      <p:sp>
        <p:nvSpPr>
          <p:cNvPr id="177" name="Google Shape;177;p18"/>
          <p:cNvSpPr txBox="1"/>
          <p:nvPr>
            <p:ph idx="1" type="subTitle"/>
          </p:nvPr>
        </p:nvSpPr>
        <p:spPr>
          <a:xfrm>
            <a:off x="729581" y="2928700"/>
            <a:ext cx="7199400" cy="54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 sz="1400"/>
              <a:t>PROYECTO FINAL DE SQL</a:t>
            </a:r>
            <a:endParaRPr b="1" sz="1400"/>
          </a:p>
        </p:txBody>
      </p:sp>
      <p:sp>
        <p:nvSpPr>
          <p:cNvPr id="178" name="Google Shape;178;p18"/>
          <p:cNvSpPr/>
          <p:nvPr/>
        </p:nvSpPr>
        <p:spPr>
          <a:xfrm>
            <a:off x="0" y="0"/>
            <a:ext cx="9144000" cy="4857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9" name="Google Shape;179;p18"/>
          <p:cNvSpPr txBox="1"/>
          <p:nvPr/>
        </p:nvSpPr>
        <p:spPr>
          <a:xfrm>
            <a:off x="230125" y="75750"/>
            <a:ext cx="3322200" cy="3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600">
                <a:solidFill>
                  <a:schemeClr val="accent1"/>
                </a:solidFill>
                <a:latin typeface="Lato"/>
                <a:ea typeface="Lato"/>
                <a:cs typeface="Lato"/>
                <a:sym typeface="Lato"/>
              </a:rPr>
              <a:t>CODERHOUSE</a:t>
            </a:r>
            <a:endParaRPr sz="200">
              <a:solidFill>
                <a:schemeClr val="accent1"/>
              </a:solidFill>
              <a:latin typeface="Lato"/>
              <a:ea typeface="Lato"/>
              <a:cs typeface="Lato"/>
              <a:sym typeface="Lato"/>
            </a:endParaRPr>
          </a:p>
        </p:txBody>
      </p:sp>
      <p:sp>
        <p:nvSpPr>
          <p:cNvPr id="180" name="Google Shape;180;p18"/>
          <p:cNvSpPr txBox="1"/>
          <p:nvPr/>
        </p:nvSpPr>
        <p:spPr>
          <a:xfrm>
            <a:off x="7583425" y="75750"/>
            <a:ext cx="3322200" cy="3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600">
                <a:solidFill>
                  <a:schemeClr val="accent1"/>
                </a:solidFill>
                <a:latin typeface="Lato"/>
                <a:ea typeface="Lato"/>
                <a:cs typeface="Lato"/>
                <a:sym typeface="Lato"/>
              </a:rPr>
              <a:t>FERNANDA BARRIONUEVO </a:t>
            </a:r>
            <a:endParaRPr sz="200">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19"/>
          <p:cNvSpPr txBox="1"/>
          <p:nvPr/>
        </p:nvSpPr>
        <p:spPr>
          <a:xfrm>
            <a:off x="1293850" y="2274400"/>
            <a:ext cx="2361900" cy="20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Raleway"/>
                <a:ea typeface="Raleway"/>
                <a:cs typeface="Raleway"/>
                <a:sym typeface="Raleway"/>
              </a:rPr>
              <a:t>Modelo de negocio</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Problemas que resolver</a:t>
            </a:r>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Diagrama entidad relación</a:t>
            </a:r>
            <a:endParaRPr/>
          </a:p>
          <a:p>
            <a:pPr indent="0" lvl="0" marL="0" rtl="0" algn="l">
              <a:spcBef>
                <a:spcPts val="1600"/>
              </a:spcBef>
              <a:spcAft>
                <a:spcPts val="0"/>
              </a:spcAft>
              <a:buNone/>
            </a:pPr>
            <a:r>
              <a:rPr lang="es" sz="1300">
                <a:solidFill>
                  <a:srgbClr val="FFFFFF"/>
                </a:solidFill>
                <a:uFill>
                  <a:noFill/>
                </a:uFill>
                <a:latin typeface="Raleway"/>
                <a:ea typeface="Raleway"/>
                <a:cs typeface="Raleway"/>
                <a:sym typeface="Raleway"/>
                <a:hlinkClick action="ppaction://hlinksldjump" r:id="rId3">
                  <a:extLst>
                    <a:ext uri="{A12FA001-AC4F-418D-AE19-62706E023703}">
                      <ahyp:hlinkClr val="tx"/>
                    </a:ext>
                  </a:extLst>
                </a:hlinkClick>
              </a:rPr>
              <a:t>T</a:t>
            </a:r>
            <a:r>
              <a:rPr lang="es" sz="1300">
                <a:solidFill>
                  <a:srgbClr val="FFFFFF"/>
                </a:solidFill>
                <a:latin typeface="Raleway"/>
                <a:ea typeface="Raleway"/>
                <a:cs typeface="Raleway"/>
                <a:sym typeface="Raleway"/>
              </a:rPr>
              <a:t>ablas</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t/>
            </a:r>
            <a:endParaRPr sz="1300">
              <a:solidFill>
                <a:srgbClr val="FFFFFF"/>
              </a:solidFill>
              <a:latin typeface="Raleway"/>
              <a:ea typeface="Raleway"/>
              <a:cs typeface="Raleway"/>
              <a:sym typeface="Raleway"/>
            </a:endParaRPr>
          </a:p>
        </p:txBody>
      </p:sp>
      <p:sp>
        <p:nvSpPr>
          <p:cNvPr id="186" name="Google Shape;186;p19"/>
          <p:cNvSpPr txBox="1"/>
          <p:nvPr/>
        </p:nvSpPr>
        <p:spPr>
          <a:xfrm>
            <a:off x="3799677" y="2274400"/>
            <a:ext cx="2059500" cy="20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Raleway"/>
                <a:ea typeface="Raleway"/>
                <a:cs typeface="Raleway"/>
                <a:sym typeface="Raleway"/>
              </a:rPr>
              <a:t>Vistas</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Funciones</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uFill>
                  <a:noFill/>
                </a:uFill>
                <a:latin typeface="Raleway"/>
                <a:ea typeface="Raleway"/>
                <a:cs typeface="Raleway"/>
                <a:sym typeface="Raleway"/>
                <a:hlinkClick>
                  <a:extLst>
                    <a:ext uri="{A12FA001-AC4F-418D-AE19-62706E023703}">
                      <ahyp:hlinkClr val="tx"/>
                    </a:ext>
                  </a:extLst>
                </a:hlinkClick>
              </a:rPr>
              <a:t>S</a:t>
            </a:r>
            <a:r>
              <a:rPr lang="es" sz="1300">
                <a:solidFill>
                  <a:srgbClr val="FFFFFF"/>
                </a:solidFill>
                <a:latin typeface="Raleway"/>
                <a:ea typeface="Raleway"/>
                <a:cs typeface="Raleway"/>
                <a:sym typeface="Raleway"/>
              </a:rPr>
              <a:t>tored Procedure</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Trigger</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t/>
            </a:r>
            <a:endParaRPr sz="1300">
              <a:solidFill>
                <a:srgbClr val="FFFFFF"/>
              </a:solidFill>
              <a:latin typeface="Raleway"/>
              <a:ea typeface="Raleway"/>
              <a:cs typeface="Raleway"/>
              <a:sym typeface="Raleway"/>
            </a:endParaRPr>
          </a:p>
        </p:txBody>
      </p:sp>
      <p:sp>
        <p:nvSpPr>
          <p:cNvPr id="187" name="Google Shape;187;p19"/>
          <p:cNvSpPr txBox="1"/>
          <p:nvPr/>
        </p:nvSpPr>
        <p:spPr>
          <a:xfrm>
            <a:off x="6335801" y="2274400"/>
            <a:ext cx="1553400" cy="20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Raleway"/>
                <a:ea typeface="Raleway"/>
                <a:cs typeface="Raleway"/>
                <a:sym typeface="Raleway"/>
              </a:rPr>
              <a:t>TCL </a:t>
            </a:r>
            <a:endParaRPr sz="1300">
              <a:solidFill>
                <a:srgbClr val="FFFFFF"/>
              </a:solidFill>
              <a:latin typeface="Raleway"/>
              <a:ea typeface="Raleway"/>
              <a:cs typeface="Raleway"/>
              <a:sym typeface="Raleway"/>
            </a:endParaRPr>
          </a:p>
          <a:p>
            <a:pPr indent="0" lvl="0" marL="0" rtl="0" algn="l">
              <a:spcBef>
                <a:spcPts val="1600"/>
              </a:spcBef>
              <a:spcAft>
                <a:spcPts val="0"/>
              </a:spcAft>
              <a:buNone/>
            </a:pPr>
            <a:r>
              <a:rPr lang="es" sz="1300">
                <a:solidFill>
                  <a:srgbClr val="FFFFFF"/>
                </a:solidFill>
                <a:latin typeface="Raleway"/>
                <a:ea typeface="Raleway"/>
                <a:cs typeface="Raleway"/>
                <a:sym typeface="Raleway"/>
              </a:rPr>
              <a:t>DCL</a:t>
            </a:r>
            <a:endParaRPr sz="1300">
              <a:solidFill>
                <a:srgbClr val="FFFFFF"/>
              </a:solidFill>
              <a:latin typeface="Raleway"/>
              <a:ea typeface="Raleway"/>
              <a:cs typeface="Raleway"/>
              <a:sym typeface="Raleway"/>
            </a:endParaRPr>
          </a:p>
          <a:p>
            <a:pPr indent="0" lvl="0" marL="0" rtl="0" algn="l">
              <a:spcBef>
                <a:spcPts val="1600"/>
              </a:spcBef>
              <a:spcAft>
                <a:spcPts val="1600"/>
              </a:spcAft>
              <a:buNone/>
            </a:pPr>
            <a:r>
              <a:rPr lang="es" sz="1300">
                <a:solidFill>
                  <a:srgbClr val="FFFFFF"/>
                </a:solidFill>
                <a:latin typeface="Raleway"/>
                <a:ea typeface="Raleway"/>
                <a:cs typeface="Raleway"/>
                <a:sym typeface="Raleway"/>
              </a:rPr>
              <a:t>Herramientas </a:t>
            </a:r>
            <a:endParaRPr sz="1300">
              <a:solidFill>
                <a:srgbClr val="FFFFFF"/>
              </a:solidFill>
              <a:latin typeface="Raleway"/>
              <a:ea typeface="Raleway"/>
              <a:cs typeface="Raleway"/>
              <a:sym typeface="Raleway"/>
            </a:endParaRPr>
          </a:p>
        </p:txBody>
      </p:sp>
      <p:sp>
        <p:nvSpPr>
          <p:cNvPr id="188" name="Google Shape;188;p19"/>
          <p:cNvSpPr txBox="1"/>
          <p:nvPr/>
        </p:nvSpPr>
        <p:spPr>
          <a:xfrm>
            <a:off x="1308150" y="1318650"/>
            <a:ext cx="71100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600">
                <a:solidFill>
                  <a:srgbClr val="FFFFFF"/>
                </a:solidFill>
                <a:latin typeface="Raleway"/>
                <a:ea typeface="Raleway"/>
                <a:cs typeface="Raleway"/>
                <a:sym typeface="Raleway"/>
              </a:rPr>
              <a:t>Índice</a:t>
            </a:r>
            <a:endParaRPr b="1" sz="2600">
              <a:solidFill>
                <a:srgbClr val="FFFFFF"/>
              </a:solidFill>
              <a:latin typeface="Raleway"/>
              <a:ea typeface="Raleway"/>
              <a:cs typeface="Raleway"/>
              <a:sym typeface="Raleway"/>
            </a:endParaRPr>
          </a:p>
        </p:txBody>
      </p:sp>
      <p:sp>
        <p:nvSpPr>
          <p:cNvPr id="189" name="Google Shape;189;p19"/>
          <p:cNvSpPr/>
          <p:nvPr/>
        </p:nvSpPr>
        <p:spPr>
          <a:xfrm>
            <a:off x="-100" y="0"/>
            <a:ext cx="9144000" cy="553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Introducción - Modelo de Negocio </a:t>
            </a:r>
            <a:endParaRPr/>
          </a:p>
        </p:txBody>
      </p:sp>
      <p:sp>
        <p:nvSpPr>
          <p:cNvPr id="195" name="Google Shape;195;p20"/>
          <p:cNvSpPr txBox="1"/>
          <p:nvPr>
            <p:ph idx="1" type="body"/>
          </p:nvPr>
        </p:nvSpPr>
        <p:spPr>
          <a:xfrm>
            <a:off x="1295325" y="2078875"/>
            <a:ext cx="7122900" cy="13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000000"/>
                </a:solidFill>
                <a:latin typeface="Arial"/>
                <a:ea typeface="Arial"/>
                <a:cs typeface="Arial"/>
                <a:sym typeface="Arial"/>
              </a:rPr>
              <a:t>El modelo es un hotel 3 estrellas de màs de 150 años, se llama “La Grange” la misma se ubica en Courmayeur, norte de Italia, ademàs de brindar su servicio de alojamiento, este cuenta con una granja con una variedad de màs de 100 animales, brindando servicios de paseos, visitas e historia del proyecto, venta de tazones representativos a los diferentes animales, laboratorio y otras actividades como picnics.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s" sz="1100">
                <a:solidFill>
                  <a:srgbClr val="000000"/>
                </a:solidFill>
                <a:latin typeface="Arial"/>
                <a:ea typeface="Arial"/>
                <a:cs typeface="Arial"/>
                <a:sym typeface="Arial"/>
              </a:rPr>
              <a:t>También ofrecen servicios de aperitivos (picadas en la tarde que incluyen los animales en la sala de bar) y cena, todo esto con reservaciones previas. </a:t>
            </a:r>
            <a:endParaRPr sz="1100">
              <a:solidFill>
                <a:srgbClr val="000000"/>
              </a:solidFill>
              <a:latin typeface="Arial"/>
              <a:ea typeface="Arial"/>
              <a:cs typeface="Arial"/>
              <a:sym typeface="Arial"/>
            </a:endParaRPr>
          </a:p>
          <a:p>
            <a:pPr indent="0" lvl="0" marL="0" rtl="0" algn="l">
              <a:spcBef>
                <a:spcPts val="0"/>
              </a:spcBef>
              <a:spcAft>
                <a:spcPts val="1600"/>
              </a:spcAft>
              <a:buNone/>
            </a:pPr>
            <a:r>
              <a:t/>
            </a:r>
            <a:endParaRPr sz="1100"/>
          </a:p>
        </p:txBody>
      </p:sp>
      <p:pic>
        <p:nvPicPr>
          <p:cNvPr descr="shutterstock_429987889_edited.jpg" id="196" name="Google Shape;196;p20"/>
          <p:cNvPicPr preferRelativeResize="0"/>
          <p:nvPr/>
        </p:nvPicPr>
        <p:blipFill rotWithShape="1">
          <a:blip r:embed="rId3">
            <a:alphaModFix/>
          </a:blip>
          <a:srcRect b="1382" l="12610" r="6248" t="85988"/>
          <a:stretch/>
        </p:blipFill>
        <p:spPr>
          <a:xfrm>
            <a:off x="0" y="3835670"/>
            <a:ext cx="9144000" cy="13268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Problemas que resolver</a:t>
            </a:r>
            <a:endParaRPr/>
          </a:p>
        </p:txBody>
      </p:sp>
      <p:sp>
        <p:nvSpPr>
          <p:cNvPr id="202" name="Google Shape;202;p21"/>
          <p:cNvSpPr/>
          <p:nvPr/>
        </p:nvSpPr>
        <p:spPr>
          <a:xfrm>
            <a:off x="1400790" y="21816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1</a:t>
            </a:r>
            <a:endParaRPr b="1" sz="800">
              <a:solidFill>
                <a:srgbClr val="FFFFFF"/>
              </a:solidFill>
            </a:endParaRPr>
          </a:p>
        </p:txBody>
      </p:sp>
      <p:sp>
        <p:nvSpPr>
          <p:cNvPr id="203" name="Google Shape;203;p21"/>
          <p:cNvSpPr txBox="1"/>
          <p:nvPr>
            <p:ph idx="1" type="body"/>
          </p:nvPr>
        </p:nvSpPr>
        <p:spPr>
          <a:xfrm>
            <a:off x="1847700" y="2073775"/>
            <a:ext cx="2832900" cy="11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Desorganización de la información </a:t>
            </a:r>
            <a:endParaRPr b="1" sz="1100"/>
          </a:p>
          <a:p>
            <a:pPr indent="0" lvl="0" marL="0" rtl="0" algn="l">
              <a:spcBef>
                <a:spcPts val="1600"/>
              </a:spcBef>
              <a:spcAft>
                <a:spcPts val="0"/>
              </a:spcAft>
              <a:buNone/>
            </a:pPr>
            <a:r>
              <a:rPr lang="es" sz="1100"/>
              <a:t>. Datos dispersos entre distintas áreas </a:t>
            </a:r>
            <a:endParaRPr sz="1100"/>
          </a:p>
          <a:p>
            <a:pPr indent="0" lvl="0" marL="0" rtl="0" algn="l">
              <a:spcBef>
                <a:spcPts val="1600"/>
              </a:spcBef>
              <a:spcAft>
                <a:spcPts val="1600"/>
              </a:spcAft>
              <a:buNone/>
            </a:pPr>
            <a:r>
              <a:rPr lang="es" sz="1100"/>
              <a:t>. Dificultad para acceder a la información </a:t>
            </a:r>
            <a:endParaRPr sz="1100"/>
          </a:p>
        </p:txBody>
      </p:sp>
      <p:sp>
        <p:nvSpPr>
          <p:cNvPr id="204" name="Google Shape;204;p21"/>
          <p:cNvSpPr/>
          <p:nvPr/>
        </p:nvSpPr>
        <p:spPr>
          <a:xfrm>
            <a:off x="1400790" y="34040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2</a:t>
            </a:r>
            <a:endParaRPr b="1" sz="800">
              <a:solidFill>
                <a:srgbClr val="FFFFFF"/>
              </a:solidFill>
            </a:endParaRPr>
          </a:p>
        </p:txBody>
      </p:sp>
      <p:sp>
        <p:nvSpPr>
          <p:cNvPr id="205" name="Google Shape;205;p21"/>
          <p:cNvSpPr txBox="1"/>
          <p:nvPr>
            <p:ph idx="1" type="body"/>
          </p:nvPr>
        </p:nvSpPr>
        <p:spPr>
          <a:xfrm>
            <a:off x="1847700" y="3477500"/>
            <a:ext cx="3082500" cy="11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Procesos manuales propensos a errores </a:t>
            </a:r>
            <a:endParaRPr b="1" sz="1100"/>
          </a:p>
          <a:p>
            <a:pPr indent="0" lvl="0" marL="0" rtl="0" algn="l">
              <a:spcBef>
                <a:spcPts val="1600"/>
              </a:spcBef>
              <a:spcAft>
                <a:spcPts val="0"/>
              </a:spcAft>
              <a:buNone/>
            </a:pPr>
            <a:r>
              <a:rPr lang="es" sz="1100"/>
              <a:t>. Registro manual de clientes, pagos y reservas</a:t>
            </a:r>
            <a:endParaRPr sz="1100"/>
          </a:p>
          <a:p>
            <a:pPr indent="0" lvl="0" marL="0" rtl="0" algn="l">
              <a:spcBef>
                <a:spcPts val="1600"/>
              </a:spcBef>
              <a:spcAft>
                <a:spcPts val="1600"/>
              </a:spcAft>
              <a:buNone/>
            </a:pPr>
            <a:r>
              <a:rPr lang="es" sz="1100"/>
              <a:t>. Riesgo de inconsistencia </a:t>
            </a:r>
            <a:endParaRPr sz="1100"/>
          </a:p>
        </p:txBody>
      </p:sp>
      <p:sp>
        <p:nvSpPr>
          <p:cNvPr id="206" name="Google Shape;206;p21"/>
          <p:cNvSpPr/>
          <p:nvPr/>
        </p:nvSpPr>
        <p:spPr>
          <a:xfrm>
            <a:off x="5090809" y="21816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3</a:t>
            </a:r>
            <a:endParaRPr b="1" sz="800">
              <a:solidFill>
                <a:srgbClr val="FFFFFF"/>
              </a:solidFill>
            </a:endParaRPr>
          </a:p>
        </p:txBody>
      </p:sp>
      <p:sp>
        <p:nvSpPr>
          <p:cNvPr id="207" name="Google Shape;207;p21"/>
          <p:cNvSpPr txBox="1"/>
          <p:nvPr>
            <p:ph idx="1" type="body"/>
          </p:nvPr>
        </p:nvSpPr>
        <p:spPr>
          <a:xfrm>
            <a:off x="5536100" y="2073775"/>
            <a:ext cx="3543600" cy="10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Falta de control sobre operaciones </a:t>
            </a:r>
            <a:endParaRPr b="1" sz="1100"/>
          </a:p>
          <a:p>
            <a:pPr indent="0" lvl="0" marL="0" rtl="0" algn="l">
              <a:spcBef>
                <a:spcPts val="1600"/>
              </a:spcBef>
              <a:spcAft>
                <a:spcPts val="0"/>
              </a:spcAft>
              <a:buNone/>
            </a:pPr>
            <a:r>
              <a:rPr lang="es" sz="1100"/>
              <a:t>. Dificultad para seguir actividades, reservas y stock</a:t>
            </a:r>
            <a:endParaRPr sz="1100"/>
          </a:p>
          <a:p>
            <a:pPr indent="0" lvl="0" marL="0" rtl="0" algn="l">
              <a:spcBef>
                <a:spcPts val="1600"/>
              </a:spcBef>
              <a:spcAft>
                <a:spcPts val="1600"/>
              </a:spcAft>
              <a:buNone/>
            </a:pPr>
            <a:r>
              <a:rPr lang="es" sz="1100"/>
              <a:t>. Información poco clara  </a:t>
            </a:r>
            <a:endParaRPr sz="1100"/>
          </a:p>
        </p:txBody>
      </p:sp>
      <p:sp>
        <p:nvSpPr>
          <p:cNvPr id="208" name="Google Shape;208;p21"/>
          <p:cNvSpPr/>
          <p:nvPr/>
        </p:nvSpPr>
        <p:spPr>
          <a:xfrm>
            <a:off x="5090809" y="34040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800">
                <a:solidFill>
                  <a:srgbClr val="FFFFFF"/>
                </a:solidFill>
              </a:rPr>
              <a:t>4</a:t>
            </a:r>
            <a:endParaRPr b="1" sz="800">
              <a:solidFill>
                <a:srgbClr val="FFFFFF"/>
              </a:solidFill>
            </a:endParaRPr>
          </a:p>
        </p:txBody>
      </p:sp>
      <p:sp>
        <p:nvSpPr>
          <p:cNvPr id="209" name="Google Shape;209;p21"/>
          <p:cNvSpPr txBox="1"/>
          <p:nvPr>
            <p:ph idx="1" type="body"/>
          </p:nvPr>
        </p:nvSpPr>
        <p:spPr>
          <a:xfrm>
            <a:off x="5536112" y="3404075"/>
            <a:ext cx="2832900" cy="10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Imposibilidad de analizar datos </a:t>
            </a:r>
            <a:endParaRPr b="1" sz="1100"/>
          </a:p>
          <a:p>
            <a:pPr indent="0" lvl="0" marL="0" rtl="0" algn="l">
              <a:spcBef>
                <a:spcPts val="1600"/>
              </a:spcBef>
              <a:spcAft>
                <a:spcPts val="0"/>
              </a:spcAft>
              <a:buNone/>
            </a:pPr>
            <a:r>
              <a:rPr lang="es" sz="1100"/>
              <a:t>. No se podían obtener métricas claras</a:t>
            </a:r>
            <a:endParaRPr sz="1100"/>
          </a:p>
          <a:p>
            <a:pPr indent="0" lvl="0" marL="0" rtl="0" algn="l">
              <a:spcBef>
                <a:spcPts val="1600"/>
              </a:spcBef>
              <a:spcAft>
                <a:spcPts val="1600"/>
              </a:spcAft>
              <a:buNone/>
            </a:pPr>
            <a:r>
              <a:rPr lang="es" sz="1100"/>
              <a:t>. Falta de soporte para las desiciones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213" name="Shape 213"/>
        <p:cNvGrpSpPr/>
        <p:nvPr/>
      </p:nvGrpSpPr>
      <p:grpSpPr>
        <a:xfrm>
          <a:off x="0" y="0"/>
          <a:ext cx="0" cy="0"/>
          <a:chOff x="0" y="0"/>
          <a:chExt cx="0" cy="0"/>
        </a:xfrm>
      </p:grpSpPr>
      <p:sp>
        <p:nvSpPr>
          <p:cNvPr id="214" name="Google Shape;214;p22"/>
          <p:cNvSpPr txBox="1"/>
          <p:nvPr>
            <p:ph type="title"/>
          </p:nvPr>
        </p:nvSpPr>
        <p:spPr>
          <a:xfrm>
            <a:off x="659000" y="429975"/>
            <a:ext cx="7516500" cy="35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400"/>
              <a:t>DIAGRAMA DE ENTIDAD RELACIÒN </a:t>
            </a:r>
            <a:endParaRPr sz="1400"/>
          </a:p>
        </p:txBody>
      </p:sp>
      <p:pic>
        <p:nvPicPr>
          <p:cNvPr id="215" name="Google Shape;215;p22" title="Captura de pantalla 2026-04-09 134004.png"/>
          <p:cNvPicPr preferRelativeResize="0"/>
          <p:nvPr/>
        </p:nvPicPr>
        <p:blipFill>
          <a:blip r:embed="rId3">
            <a:alphaModFix/>
          </a:blip>
          <a:stretch>
            <a:fillRect/>
          </a:stretch>
        </p:blipFill>
        <p:spPr>
          <a:xfrm>
            <a:off x="788175" y="914562"/>
            <a:ext cx="7140799" cy="3453876"/>
          </a:xfrm>
          <a:prstGeom prst="rect">
            <a:avLst/>
          </a:prstGeom>
          <a:noFill/>
          <a:ln>
            <a:noFill/>
          </a:ln>
        </p:spPr>
      </p:pic>
      <p:sp>
        <p:nvSpPr>
          <p:cNvPr id="216" name="Google Shape;216;p22"/>
          <p:cNvSpPr/>
          <p:nvPr/>
        </p:nvSpPr>
        <p:spPr>
          <a:xfrm>
            <a:off x="6848625" y="4502325"/>
            <a:ext cx="2031534" cy="50495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7" name="Google Shape;217;p22">
            <a:hlinkClick r:id="rId4"/>
          </p:cNvPr>
          <p:cNvSpPr txBox="1"/>
          <p:nvPr/>
        </p:nvSpPr>
        <p:spPr>
          <a:xfrm>
            <a:off x="7095188" y="4579450"/>
            <a:ext cx="1538400" cy="35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Ver en SQL </a:t>
            </a:r>
            <a:endParaRPr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3"/>
          <p:cNvSpPr txBox="1"/>
          <p:nvPr>
            <p:ph type="title"/>
          </p:nvPr>
        </p:nvSpPr>
        <p:spPr>
          <a:xfrm>
            <a:off x="719700" y="1812450"/>
            <a:ext cx="77046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TABLAS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707225" y="602325"/>
            <a:ext cx="40035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SECTOR</a:t>
            </a:r>
            <a:endParaRPr b="0"/>
          </a:p>
        </p:txBody>
      </p:sp>
      <p:sp>
        <p:nvSpPr>
          <p:cNvPr id="228" name="Google Shape;228;p24"/>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229" name="Google Shape;229;p24"/>
          <p:cNvGraphicFramePr/>
          <p:nvPr/>
        </p:nvGraphicFramePr>
        <p:xfrm>
          <a:off x="823325" y="2182325"/>
          <a:ext cx="3000000" cy="3000000"/>
        </p:xfrm>
        <a:graphic>
          <a:graphicData uri="http://schemas.openxmlformats.org/drawingml/2006/table">
            <a:tbl>
              <a:tblPr>
                <a:noFill/>
                <a:tableStyleId>{FC84BEDB-6955-4F6C-8EA5-796442457265}</a:tableStyleId>
              </a:tblPr>
              <a:tblGrid>
                <a:gridCol w="2412575"/>
                <a:gridCol w="2412575"/>
                <a:gridCol w="2412575"/>
              </a:tblGrid>
              <a:tr h="381000">
                <a:tc>
                  <a:txBody>
                    <a:bodyPr/>
                    <a:lstStyle/>
                    <a:p>
                      <a:pPr indent="0" lvl="0" marL="0" rtl="0" algn="ctr">
                        <a:spcBef>
                          <a:spcPts val="0"/>
                        </a:spcBef>
                        <a:spcAft>
                          <a:spcPts val="0"/>
                        </a:spcAft>
                        <a:buNone/>
                      </a:pPr>
                      <a:r>
                        <a:rPr b="1" lang="es"/>
                        <a:t>CAMPO </a:t>
                      </a:r>
                      <a:endParaRPr b="1"/>
                    </a:p>
                  </a:txBody>
                  <a:tcPr marT="91425" marB="91425" marR="91425" marL="91425"/>
                </a:tc>
                <a:tc>
                  <a:txBody>
                    <a:bodyPr/>
                    <a:lstStyle/>
                    <a:p>
                      <a:pPr indent="0" lvl="0" marL="0" rtl="0" algn="ctr">
                        <a:spcBef>
                          <a:spcPts val="0"/>
                        </a:spcBef>
                        <a:spcAft>
                          <a:spcPts val="0"/>
                        </a:spcAft>
                        <a:buNone/>
                      </a:pPr>
                      <a:r>
                        <a:rPr b="1" lang="es"/>
                        <a:t>TIPO DE DATO </a:t>
                      </a:r>
                      <a:endParaRPr b="1"/>
                    </a:p>
                  </a:txBody>
                  <a:tcPr marT="91425" marB="91425" marR="91425" marL="91425"/>
                </a:tc>
                <a:tc>
                  <a:txBody>
                    <a:bodyPr/>
                    <a:lstStyle/>
                    <a:p>
                      <a:pPr indent="0" lvl="0" marL="0" rtl="0" algn="ctr">
                        <a:spcBef>
                          <a:spcPts val="0"/>
                        </a:spcBef>
                        <a:spcAft>
                          <a:spcPts val="0"/>
                        </a:spcAft>
                        <a:buNone/>
                      </a:pPr>
                      <a:r>
                        <a:rPr b="1" lang="es"/>
                        <a:t>TIPO DE CLAVE</a:t>
                      </a:r>
                      <a:endParaRPr b="1"/>
                    </a:p>
                  </a:txBody>
                  <a:tcPr marT="91425" marB="91425" marR="91425" marL="91425"/>
                </a:tc>
              </a:tr>
              <a:tr h="381000">
                <a:tc>
                  <a:txBody>
                    <a:bodyPr/>
                    <a:lstStyle/>
                    <a:p>
                      <a:pPr indent="0" lvl="0" marL="0" rtl="0" algn="l">
                        <a:spcBef>
                          <a:spcPts val="0"/>
                        </a:spcBef>
                        <a:spcAft>
                          <a:spcPts val="0"/>
                        </a:spcAft>
                        <a:buNone/>
                      </a:pPr>
                      <a:r>
                        <a:rPr lang="es"/>
                        <a:t>id_sector </a:t>
                      </a:r>
                      <a:endParaRPr/>
                    </a:p>
                  </a:txBody>
                  <a:tcPr marT="91425" marB="91425" marR="91425" marL="91425"/>
                </a:tc>
                <a:tc>
                  <a:txBody>
                    <a:bodyPr/>
                    <a:lstStyle/>
                    <a:p>
                      <a:pPr indent="0" lvl="0" marL="0" rtl="0" algn="l">
                        <a:spcBef>
                          <a:spcPts val="0"/>
                        </a:spcBef>
                        <a:spcAft>
                          <a:spcPts val="0"/>
                        </a:spcAft>
                        <a:buNone/>
                      </a:pPr>
                      <a:r>
                        <a:rPr lang="es"/>
                        <a:t>int </a:t>
                      </a:r>
                      <a:endParaRPr/>
                    </a:p>
                  </a:txBody>
                  <a:tcPr marT="91425" marB="91425" marR="91425" marL="91425"/>
                </a:tc>
                <a:tc>
                  <a:txBody>
                    <a:bodyPr/>
                    <a:lstStyle/>
                    <a:p>
                      <a:pPr indent="0" lvl="0" marL="0" rtl="0" algn="l">
                        <a:spcBef>
                          <a:spcPts val="0"/>
                        </a:spcBef>
                        <a:spcAft>
                          <a:spcPts val="0"/>
                        </a:spcAft>
                        <a:buNone/>
                      </a:pPr>
                      <a:r>
                        <a:rPr lang="es"/>
                        <a:t>PK</a:t>
                      </a:r>
                      <a:endParaRPr/>
                    </a:p>
                  </a:txBody>
                  <a:tcPr marT="91425" marB="91425" marR="91425" marL="91425"/>
                </a:tc>
              </a:tr>
              <a:tr h="381000">
                <a:tc>
                  <a:txBody>
                    <a:bodyPr/>
                    <a:lstStyle/>
                    <a:p>
                      <a:pPr indent="0" lvl="0" marL="0" rtl="0" algn="l">
                        <a:spcBef>
                          <a:spcPts val="0"/>
                        </a:spcBef>
                        <a:spcAft>
                          <a:spcPts val="0"/>
                        </a:spcAft>
                        <a:buNone/>
                      </a:pPr>
                      <a:r>
                        <a:rPr lang="es"/>
                        <a:t>areas</a:t>
                      </a:r>
                      <a:endParaRPr/>
                    </a:p>
                  </a:txBody>
                  <a:tcPr marT="91425" marB="91425" marR="91425" marL="91425"/>
                </a:tc>
                <a:tc>
                  <a:txBody>
                    <a:bodyPr/>
                    <a:lstStyle/>
                    <a:p>
                      <a:pPr indent="0" lvl="0" marL="0" rtl="0" algn="l">
                        <a:spcBef>
                          <a:spcPts val="0"/>
                        </a:spcBef>
                        <a:spcAft>
                          <a:spcPts val="0"/>
                        </a:spcAft>
                        <a:buNone/>
                      </a:pPr>
                      <a:r>
                        <a:rPr lang="es"/>
                        <a:t>varchar (40)</a:t>
                      </a:r>
                      <a:endParaRPr/>
                    </a:p>
                  </a:txBody>
                  <a:tcPr marT="91425" marB="91425" marR="91425" marL="91425"/>
                </a:tc>
                <a:tc>
                  <a:txBody>
                    <a:bodyPr/>
                    <a:lstStyle/>
                    <a:p>
                      <a:pPr indent="0" lvl="0" marL="0" rtl="0" algn="l">
                        <a:spcBef>
                          <a:spcPts val="0"/>
                        </a:spcBef>
                        <a:spcAft>
                          <a:spcPts val="0"/>
                        </a:spcAft>
                        <a:buNone/>
                      </a:pPr>
                      <a:r>
                        <a:rPr lang="es"/>
                        <a:t>-</a:t>
                      </a:r>
                      <a:endParaRPr/>
                    </a:p>
                  </a:txBody>
                  <a:tcPr marT="91425" marB="91425" marR="91425" marL="91425"/>
                </a:tc>
              </a:tr>
              <a:tr h="381000">
                <a:tc>
                  <a:txBody>
                    <a:bodyPr/>
                    <a:lstStyle/>
                    <a:p>
                      <a:pPr indent="0" lvl="0" marL="0" rtl="0" algn="l">
                        <a:spcBef>
                          <a:spcPts val="0"/>
                        </a:spcBef>
                        <a:spcAft>
                          <a:spcPts val="0"/>
                        </a:spcAft>
                        <a:buNone/>
                      </a:pPr>
                      <a:r>
                        <a:rPr lang="es"/>
                        <a:t>descripción </a:t>
                      </a:r>
                      <a:endParaRPr/>
                    </a:p>
                  </a:txBody>
                  <a:tcPr marT="91425" marB="91425" marR="91425" marL="91425"/>
                </a:tc>
                <a:tc>
                  <a:txBody>
                    <a:bodyPr/>
                    <a:lstStyle/>
                    <a:p>
                      <a:pPr indent="0" lvl="0" marL="0" rtl="0" algn="l">
                        <a:spcBef>
                          <a:spcPts val="0"/>
                        </a:spcBef>
                        <a:spcAft>
                          <a:spcPts val="0"/>
                        </a:spcAft>
                        <a:buNone/>
                      </a:pPr>
                      <a:r>
                        <a:rPr lang="es"/>
                        <a:t>varchar(40)</a:t>
                      </a:r>
                      <a:endParaRPr/>
                    </a:p>
                  </a:txBody>
                  <a:tcPr marT="91425" marB="91425" marR="91425" marL="91425"/>
                </a:tc>
                <a:tc>
                  <a:txBody>
                    <a:bodyPr/>
                    <a:lstStyle/>
                    <a:p>
                      <a:pPr indent="0" lvl="0" marL="0" rtl="0" algn="l">
                        <a:spcBef>
                          <a:spcPts val="0"/>
                        </a:spcBef>
                        <a:spcAft>
                          <a:spcPts val="0"/>
                        </a:spcAft>
                        <a:buNone/>
                      </a:pPr>
                      <a:r>
                        <a:rPr lang="es"/>
                        <a:t>-</a:t>
                      </a:r>
                      <a:endParaRPr/>
                    </a:p>
                  </a:txBody>
                  <a:tcPr marT="91425" marB="91425" marR="91425" marL="91425"/>
                </a:tc>
              </a:tr>
            </a:tbl>
          </a:graphicData>
        </a:graphic>
      </p:graphicFrame>
      <p:sp>
        <p:nvSpPr>
          <p:cNvPr id="230" name="Google Shape;230;p24"/>
          <p:cNvSpPr txBox="1"/>
          <p:nvPr>
            <p:ph idx="1" type="body"/>
          </p:nvPr>
        </p:nvSpPr>
        <p:spPr>
          <a:xfrm>
            <a:off x="823325" y="1424225"/>
            <a:ext cx="59160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00"/>
              <a:t>Reparto de empleados segùn sectores </a:t>
            </a:r>
            <a:endParaRPr sz="1100"/>
          </a:p>
          <a:p>
            <a:pPr indent="0" lvl="0" marL="0" rtl="0" algn="l">
              <a:spcBef>
                <a:spcPts val="1600"/>
              </a:spcBef>
              <a:spcAft>
                <a:spcPts val="1600"/>
              </a:spcAft>
              <a:buNone/>
            </a:pPr>
            <a:r>
              <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type="title"/>
          </p:nvPr>
        </p:nvSpPr>
        <p:spPr>
          <a:xfrm>
            <a:off x="707225" y="602325"/>
            <a:ext cx="40035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STAFF</a:t>
            </a:r>
            <a:endParaRPr b="0"/>
          </a:p>
        </p:txBody>
      </p:sp>
      <p:sp>
        <p:nvSpPr>
          <p:cNvPr id="236" name="Google Shape;236;p25"/>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37" name="Google Shape;237;p25"/>
          <p:cNvPicPr preferRelativeResize="0"/>
          <p:nvPr/>
        </p:nvPicPr>
        <p:blipFill>
          <a:blip r:embed="rId3">
            <a:alphaModFix/>
          </a:blip>
          <a:stretch>
            <a:fillRect/>
          </a:stretch>
        </p:blipFill>
        <p:spPr>
          <a:xfrm>
            <a:off x="1361950" y="1366950"/>
            <a:ext cx="6156025" cy="3659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6"/>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PROVEEDORES Y HOTEL </a:t>
            </a:r>
            <a:endParaRPr b="0"/>
          </a:p>
        </p:txBody>
      </p:sp>
      <p:sp>
        <p:nvSpPr>
          <p:cNvPr id="243" name="Google Shape;243;p26"/>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44" name="Google Shape;244;p26"/>
          <p:cNvPicPr preferRelativeResize="0"/>
          <p:nvPr/>
        </p:nvPicPr>
        <p:blipFill>
          <a:blip r:embed="rId3">
            <a:alphaModFix/>
          </a:blip>
          <a:stretch>
            <a:fillRect/>
          </a:stretch>
        </p:blipFill>
        <p:spPr>
          <a:xfrm>
            <a:off x="1310050" y="1452550"/>
            <a:ext cx="5714700" cy="3390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CLIENTES</a:t>
            </a:r>
            <a:endParaRPr b="0"/>
          </a:p>
        </p:txBody>
      </p:sp>
      <p:sp>
        <p:nvSpPr>
          <p:cNvPr id="250" name="Google Shape;250;p27"/>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51" name="Google Shape;251;p27"/>
          <p:cNvPicPr preferRelativeResize="0"/>
          <p:nvPr/>
        </p:nvPicPr>
        <p:blipFill>
          <a:blip r:embed="rId3">
            <a:alphaModFix/>
          </a:blip>
          <a:stretch>
            <a:fillRect/>
          </a:stretch>
        </p:blipFill>
        <p:spPr>
          <a:xfrm>
            <a:off x="1150700" y="1530750"/>
            <a:ext cx="5657775" cy="3132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HUÉSPEDES</a:t>
            </a:r>
            <a:r>
              <a:rPr lang="es"/>
              <a:t> </a:t>
            </a:r>
            <a:endParaRPr b="0"/>
          </a:p>
        </p:txBody>
      </p:sp>
      <p:sp>
        <p:nvSpPr>
          <p:cNvPr id="257" name="Google Shape;257;p28"/>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58" name="Google Shape;258;p28"/>
          <p:cNvPicPr preferRelativeResize="0"/>
          <p:nvPr/>
        </p:nvPicPr>
        <p:blipFill>
          <a:blip r:embed="rId3">
            <a:alphaModFix/>
          </a:blip>
          <a:stretch>
            <a:fillRect/>
          </a:stretch>
        </p:blipFill>
        <p:spPr>
          <a:xfrm>
            <a:off x="1185800" y="1448575"/>
            <a:ext cx="6026850" cy="3541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9"/>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ACTIVIDADES </a:t>
            </a:r>
            <a:endParaRPr b="0"/>
          </a:p>
        </p:txBody>
      </p:sp>
      <p:sp>
        <p:nvSpPr>
          <p:cNvPr id="264" name="Google Shape;264;p29"/>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65" name="Google Shape;265;p29"/>
          <p:cNvPicPr preferRelativeResize="0"/>
          <p:nvPr/>
        </p:nvPicPr>
        <p:blipFill>
          <a:blip r:embed="rId3">
            <a:alphaModFix/>
          </a:blip>
          <a:stretch>
            <a:fillRect/>
          </a:stretch>
        </p:blipFill>
        <p:spPr>
          <a:xfrm>
            <a:off x="1220463" y="1472050"/>
            <a:ext cx="6703074" cy="2912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GRANJA </a:t>
            </a:r>
            <a:endParaRPr b="0"/>
          </a:p>
        </p:txBody>
      </p:sp>
      <p:sp>
        <p:nvSpPr>
          <p:cNvPr id="271" name="Google Shape;271;p30"/>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72" name="Google Shape;272;p30"/>
          <p:cNvPicPr preferRelativeResize="0"/>
          <p:nvPr/>
        </p:nvPicPr>
        <p:blipFill>
          <a:blip r:embed="rId3">
            <a:alphaModFix/>
          </a:blip>
          <a:stretch>
            <a:fillRect/>
          </a:stretch>
        </p:blipFill>
        <p:spPr>
          <a:xfrm>
            <a:off x="1110425" y="1342900"/>
            <a:ext cx="6290100" cy="3494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1"/>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 PRODUCTOS</a:t>
            </a:r>
            <a:endParaRPr b="0"/>
          </a:p>
        </p:txBody>
      </p:sp>
      <p:sp>
        <p:nvSpPr>
          <p:cNvPr id="278" name="Google Shape;278;p31"/>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79" name="Google Shape;279;p31"/>
          <p:cNvPicPr preferRelativeResize="0"/>
          <p:nvPr/>
        </p:nvPicPr>
        <p:blipFill>
          <a:blip r:embed="rId3">
            <a:alphaModFix/>
          </a:blip>
          <a:stretch>
            <a:fillRect/>
          </a:stretch>
        </p:blipFill>
        <p:spPr>
          <a:xfrm>
            <a:off x="880475" y="1538200"/>
            <a:ext cx="6637500" cy="2756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RESTAURANTE</a:t>
            </a:r>
            <a:endParaRPr b="0"/>
          </a:p>
        </p:txBody>
      </p:sp>
      <p:sp>
        <p:nvSpPr>
          <p:cNvPr id="285" name="Google Shape;285;p32"/>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86" name="Google Shape;286;p32"/>
          <p:cNvPicPr preferRelativeResize="0"/>
          <p:nvPr/>
        </p:nvPicPr>
        <p:blipFill>
          <a:blip r:embed="rId3">
            <a:alphaModFix/>
          </a:blip>
          <a:stretch>
            <a:fillRect/>
          </a:stretch>
        </p:blipFill>
        <p:spPr>
          <a:xfrm>
            <a:off x="833500" y="1413350"/>
            <a:ext cx="6461350" cy="348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RESTAURANTE</a:t>
            </a:r>
            <a:endParaRPr b="0"/>
          </a:p>
        </p:txBody>
      </p:sp>
      <p:sp>
        <p:nvSpPr>
          <p:cNvPr id="292" name="Google Shape;292;p33"/>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pic>
        <p:nvPicPr>
          <p:cNvPr id="293" name="Google Shape;293;p33"/>
          <p:cNvPicPr preferRelativeResize="0"/>
          <p:nvPr/>
        </p:nvPicPr>
        <p:blipFill>
          <a:blip r:embed="rId3">
            <a:alphaModFix/>
          </a:blip>
          <a:stretch>
            <a:fillRect/>
          </a:stretch>
        </p:blipFill>
        <p:spPr>
          <a:xfrm>
            <a:off x="833500" y="1413350"/>
            <a:ext cx="6461350" cy="348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type="title"/>
          </p:nvPr>
        </p:nvSpPr>
        <p:spPr>
          <a:xfrm>
            <a:off x="707225" y="602325"/>
            <a:ext cx="4697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RESERVA Y PAGOS</a:t>
            </a:r>
            <a:endParaRPr b="0"/>
          </a:p>
        </p:txBody>
      </p:sp>
      <p:sp>
        <p:nvSpPr>
          <p:cNvPr id="299" name="Google Shape;299;p34"/>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00" name="Google Shape;300;p34"/>
          <p:cNvGraphicFramePr/>
          <p:nvPr/>
        </p:nvGraphicFramePr>
        <p:xfrm>
          <a:off x="1479375" y="1408925"/>
          <a:ext cx="3000000" cy="3000000"/>
        </p:xfrm>
        <a:graphic>
          <a:graphicData uri="http://schemas.openxmlformats.org/drawingml/2006/table">
            <a:tbl>
              <a:tblPr>
                <a:noFill/>
                <a:tableStyleId>{CEACE58E-CB96-47D2-AB08-0E283A20B214}</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RESERVA HOTEL</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Reservas hotel por plataformas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id_reserva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fecha_reserva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estado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varchar(30)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id_huesped</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id_habitacion</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gridSpan="4">
                  <a:txBody>
                    <a:bodyPr/>
                    <a:lstStyle/>
                    <a:p>
                      <a:pPr indent="0" lvl="0" marL="0" rtl="0" algn="ctr">
                        <a:lnSpc>
                          <a:spcPct val="115000"/>
                        </a:lnSpc>
                        <a:spcBef>
                          <a:spcPts val="0"/>
                        </a:spcBef>
                        <a:spcAft>
                          <a:spcPts val="0"/>
                        </a:spcAft>
                        <a:buNone/>
                      </a:pPr>
                      <a:r>
                        <a:rPr b="1" lang="es" sz="1000"/>
                        <a:t>PAGOS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Pagos de las reservas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id_pago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fecha_pago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monto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decimal(10,2)</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metodo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varchar(30)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id_reserva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707225" y="602325"/>
            <a:ext cx="62352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FACTURACIÓN</a:t>
            </a:r>
            <a:r>
              <a:rPr lang="es"/>
              <a:t> Y TIPO ACTIVIDAD</a:t>
            </a:r>
            <a:endParaRPr b="0"/>
          </a:p>
        </p:txBody>
      </p:sp>
      <p:sp>
        <p:nvSpPr>
          <p:cNvPr id="306" name="Google Shape;306;p35"/>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07" name="Google Shape;307;p35"/>
          <p:cNvGraphicFramePr/>
          <p:nvPr/>
        </p:nvGraphicFramePr>
        <p:xfrm>
          <a:off x="1538075" y="1448825"/>
          <a:ext cx="3000000" cy="3000000"/>
        </p:xfrm>
        <a:graphic>
          <a:graphicData uri="http://schemas.openxmlformats.org/drawingml/2006/table">
            <a:tbl>
              <a:tblPr>
                <a:noFill/>
                <a:tableStyleId>{CEACE58E-CB96-47D2-AB08-0E283A20B214}</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FACTURACION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Total facturación diaria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id_factura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total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decimal(10,2)</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id_pago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gridSpan="4">
                  <a:txBody>
                    <a:bodyPr/>
                    <a:lstStyle/>
                    <a:p>
                      <a:pPr indent="0" lvl="0" marL="0" rtl="0" algn="ctr">
                        <a:lnSpc>
                          <a:spcPct val="115000"/>
                        </a:lnSpc>
                        <a:spcBef>
                          <a:spcPts val="0"/>
                        </a:spcBef>
                        <a:spcAft>
                          <a:spcPts val="0"/>
                        </a:spcAft>
                        <a:buNone/>
                      </a:pPr>
                      <a:r>
                        <a:rPr b="1" lang="es" sz="1000"/>
                        <a:t>TIPOS ACTIVIDAD</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Actividades que se prestan en el hotel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id_detalle</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id_actividad</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id_tipo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precio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decimal(10,2)</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txBox="1"/>
          <p:nvPr>
            <p:ph type="title"/>
          </p:nvPr>
        </p:nvSpPr>
        <p:spPr>
          <a:xfrm>
            <a:off x="707225" y="602325"/>
            <a:ext cx="62352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CAT. PRODUCTOS E HISTORIAL STOCK</a:t>
            </a:r>
            <a:endParaRPr b="0"/>
          </a:p>
        </p:txBody>
      </p:sp>
      <p:sp>
        <p:nvSpPr>
          <p:cNvPr id="313" name="Google Shape;313;p36"/>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14" name="Google Shape;314;p36"/>
          <p:cNvGraphicFramePr/>
          <p:nvPr/>
        </p:nvGraphicFramePr>
        <p:xfrm>
          <a:off x="1437550" y="1380750"/>
          <a:ext cx="3000000" cy="3000000"/>
        </p:xfrm>
        <a:graphic>
          <a:graphicData uri="http://schemas.openxmlformats.org/drawingml/2006/table">
            <a:tbl>
              <a:tblPr>
                <a:noFill/>
                <a:tableStyleId>{CEACE58E-CB96-47D2-AB08-0E283A20B214}</a:tableStyleId>
              </a:tblPr>
              <a:tblGrid>
                <a:gridCol w="2979950"/>
                <a:gridCol w="1024025"/>
                <a:gridCol w="1024025"/>
                <a:gridCol w="1024025"/>
              </a:tblGrid>
              <a:tr h="253375">
                <a:tc gridSpan="4">
                  <a:txBody>
                    <a:bodyPr/>
                    <a:lstStyle/>
                    <a:p>
                      <a:pPr indent="0" lvl="0" marL="0" rtl="0" algn="ctr">
                        <a:lnSpc>
                          <a:spcPct val="115000"/>
                        </a:lnSpc>
                        <a:spcBef>
                          <a:spcPts val="0"/>
                        </a:spcBef>
                        <a:spcAft>
                          <a:spcPts val="0"/>
                        </a:spcAft>
                        <a:buNone/>
                      </a:pPr>
                      <a:r>
                        <a:rPr b="1" lang="es" sz="1000"/>
                        <a:t>CATEGORIAS PRODUCTOS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gridSpan="4">
                  <a:txBody>
                    <a:bodyPr/>
                    <a:lstStyle/>
                    <a:p>
                      <a:pPr indent="0" lvl="0" marL="0" rtl="0" algn="l">
                        <a:lnSpc>
                          <a:spcPct val="115000"/>
                        </a:lnSpc>
                        <a:spcBef>
                          <a:spcPts val="0"/>
                        </a:spcBef>
                        <a:spcAft>
                          <a:spcPts val="0"/>
                        </a:spcAft>
                        <a:buNone/>
                      </a:pPr>
                      <a:r>
                        <a:rPr lang="es" sz="1000"/>
                        <a:t>Diversificacion de productos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id_categoria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04025">
                <a:tc>
                  <a:txBody>
                    <a:bodyPr/>
                    <a:lstStyle/>
                    <a:p>
                      <a:pPr indent="0" lvl="0" marL="0" rtl="0" algn="l">
                        <a:lnSpc>
                          <a:spcPct val="115000"/>
                        </a:lnSpc>
                        <a:spcBef>
                          <a:spcPts val="0"/>
                        </a:spcBef>
                        <a:spcAft>
                          <a:spcPts val="0"/>
                        </a:spcAft>
                        <a:buNone/>
                      </a:pPr>
                      <a:r>
                        <a:rPr lang="es" sz="1000"/>
                        <a:t>nombre</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varchar(50)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04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gridSpan="4">
                  <a:txBody>
                    <a:bodyPr/>
                    <a:lstStyle/>
                    <a:p>
                      <a:pPr indent="0" lvl="0" marL="0" rtl="0" algn="ctr">
                        <a:lnSpc>
                          <a:spcPct val="115000"/>
                        </a:lnSpc>
                        <a:spcBef>
                          <a:spcPts val="0"/>
                        </a:spcBef>
                        <a:spcAft>
                          <a:spcPts val="0"/>
                        </a:spcAft>
                        <a:buNone/>
                      </a:pPr>
                      <a:r>
                        <a:rPr b="1" lang="es" sz="1000"/>
                        <a:t>HISTORIAL STOCK</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gridSpan="4">
                  <a:txBody>
                    <a:bodyPr/>
                    <a:lstStyle/>
                    <a:p>
                      <a:pPr indent="0" lvl="0" marL="0" rtl="0" algn="l">
                        <a:lnSpc>
                          <a:spcPct val="115000"/>
                        </a:lnSpc>
                        <a:spcBef>
                          <a:spcPts val="0"/>
                        </a:spcBef>
                        <a:spcAft>
                          <a:spcPts val="0"/>
                        </a:spcAft>
                        <a:buNone/>
                      </a:pPr>
                      <a:r>
                        <a:rPr lang="es" sz="1000"/>
                        <a:t>Información comparativa de historial stock por temporada laboral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5337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id_historial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id_producto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3375">
                <a:tc>
                  <a:txBody>
                    <a:bodyPr/>
                    <a:lstStyle/>
                    <a:p>
                      <a:pPr indent="0" lvl="0" marL="0" rtl="0" algn="l">
                        <a:lnSpc>
                          <a:spcPct val="115000"/>
                        </a:lnSpc>
                        <a:spcBef>
                          <a:spcPts val="0"/>
                        </a:spcBef>
                        <a:spcAft>
                          <a:spcPts val="0"/>
                        </a:spcAft>
                        <a:buNone/>
                      </a:pPr>
                      <a:r>
                        <a:rPr lang="es" sz="1000"/>
                        <a:t>cantidad</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707225" y="602325"/>
            <a:ext cx="7292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TURNO STAFF Y MANT. HABITACIONES</a:t>
            </a:r>
            <a:endParaRPr b="0"/>
          </a:p>
        </p:txBody>
      </p:sp>
      <p:sp>
        <p:nvSpPr>
          <p:cNvPr id="320" name="Google Shape;320;p37"/>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21" name="Google Shape;321;p37"/>
          <p:cNvGraphicFramePr/>
          <p:nvPr/>
        </p:nvGraphicFramePr>
        <p:xfrm>
          <a:off x="1549825" y="1444125"/>
          <a:ext cx="3000000" cy="3000000"/>
        </p:xfrm>
        <a:graphic>
          <a:graphicData uri="http://schemas.openxmlformats.org/drawingml/2006/table">
            <a:tbl>
              <a:tblPr>
                <a:noFill/>
                <a:tableStyleId>{CEACE58E-CB96-47D2-AB08-0E283A20B214}</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TURNO STAFF</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Turnos staff del hotel</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id_turno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turno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varchar(20)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id_staff</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gridSpan="4">
                  <a:txBody>
                    <a:bodyPr/>
                    <a:lstStyle/>
                    <a:p>
                      <a:pPr indent="0" lvl="0" marL="0" rtl="0" algn="ctr">
                        <a:lnSpc>
                          <a:spcPct val="115000"/>
                        </a:lnSpc>
                        <a:spcBef>
                          <a:spcPts val="0"/>
                        </a:spcBef>
                        <a:spcAft>
                          <a:spcPts val="0"/>
                        </a:spcAft>
                        <a:buNone/>
                      </a:pPr>
                      <a:r>
                        <a:rPr b="1" lang="es" sz="1000"/>
                        <a:t>MANTENIMIENTO HABITACIONES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Mantenimiento y acondicionamiento de las habitaciones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id_mantenimiento</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fecha</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descripcion</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varchar(100)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id_habitaciones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707225" y="602325"/>
            <a:ext cx="72921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OPINIONES CLIENTES</a:t>
            </a:r>
            <a:endParaRPr b="0"/>
          </a:p>
        </p:txBody>
      </p:sp>
      <p:sp>
        <p:nvSpPr>
          <p:cNvPr id="327" name="Google Shape;327;p38"/>
          <p:cNvSpPr txBox="1"/>
          <p:nvPr/>
        </p:nvSpPr>
        <p:spPr>
          <a:xfrm>
            <a:off x="5281475" y="3430600"/>
            <a:ext cx="15270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mostrar tu foto, haz clic con el botón derecho en una foto y selecciona Sustituir imagen.</a:t>
            </a:r>
            <a:endParaRPr sz="700">
              <a:solidFill>
                <a:srgbClr val="D9F0FF"/>
              </a:solidFill>
            </a:endParaRPr>
          </a:p>
        </p:txBody>
      </p:sp>
      <p:graphicFrame>
        <p:nvGraphicFramePr>
          <p:cNvPr id="328" name="Google Shape;328;p38"/>
          <p:cNvGraphicFramePr/>
          <p:nvPr/>
        </p:nvGraphicFramePr>
        <p:xfrm>
          <a:off x="1667275" y="2125250"/>
          <a:ext cx="3000000" cy="3000000"/>
        </p:xfrm>
        <a:graphic>
          <a:graphicData uri="http://schemas.openxmlformats.org/drawingml/2006/table">
            <a:tbl>
              <a:tblPr>
                <a:noFill/>
                <a:tableStyleId>{CEACE58E-CB96-47D2-AB08-0E283A20B214}</a:tableStyleId>
              </a:tblPr>
              <a:tblGrid>
                <a:gridCol w="2771775"/>
                <a:gridCol w="952500"/>
                <a:gridCol w="952500"/>
                <a:gridCol w="952500"/>
              </a:tblGrid>
              <a:tr h="200025">
                <a:tc gridSpan="4">
                  <a:txBody>
                    <a:bodyPr/>
                    <a:lstStyle/>
                    <a:p>
                      <a:pPr indent="0" lvl="0" marL="0" rtl="0" algn="ctr">
                        <a:lnSpc>
                          <a:spcPct val="115000"/>
                        </a:lnSpc>
                        <a:spcBef>
                          <a:spcPts val="0"/>
                        </a:spcBef>
                        <a:spcAft>
                          <a:spcPts val="0"/>
                        </a:spcAft>
                        <a:buNone/>
                      </a:pPr>
                      <a:r>
                        <a:rPr b="1" lang="es" sz="1000"/>
                        <a:t>OPINIONES CLIENTES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gridSpan="4">
                  <a:txBody>
                    <a:bodyPr/>
                    <a:lstStyle/>
                    <a:p>
                      <a:pPr indent="0" lvl="0" marL="0" rtl="0" algn="l">
                        <a:lnSpc>
                          <a:spcPct val="115000"/>
                        </a:lnSpc>
                        <a:spcBef>
                          <a:spcPts val="0"/>
                        </a:spcBef>
                        <a:spcAft>
                          <a:spcPts val="0"/>
                        </a:spcAft>
                        <a:buNone/>
                      </a:pPr>
                      <a:r>
                        <a:rPr lang="es" sz="1000"/>
                        <a:t>Reseñas de los clientes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hMerge="1"/>
                <a:tc hMerge="1"/>
                <a:tc hMerge="1"/>
              </a:tr>
              <a:tr h="200025">
                <a:tc>
                  <a:txBody>
                    <a:bodyPr/>
                    <a:lstStyle/>
                    <a:p>
                      <a:pPr indent="0" lvl="0" marL="0" rtl="0" algn="ctr">
                        <a:lnSpc>
                          <a:spcPct val="115000"/>
                        </a:lnSpc>
                        <a:spcBef>
                          <a:spcPts val="0"/>
                        </a:spcBef>
                        <a:spcAft>
                          <a:spcPts val="0"/>
                        </a:spcAft>
                        <a:buNone/>
                      </a:pPr>
                      <a:r>
                        <a:rPr b="1" lang="es" sz="1000"/>
                        <a:t>nombre de campo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abreviatura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datos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tipo de claves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id_opiniones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comentarios</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text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puntuación</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000"/>
                        <a:t>id_cliente</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int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FK</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idx="1" type="body"/>
          </p:nvPr>
        </p:nvSpPr>
        <p:spPr>
          <a:xfrm>
            <a:off x="721225" y="1365500"/>
            <a:ext cx="7877100" cy="6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00"/>
              <a:t>Estas operan como unas consultas detalladas de información necesaria para las diferentes áreas de apoyo con el fin de que puedan simplificar sus procesos, contar con información confiable y de calidad para el hotel.</a:t>
            </a:r>
            <a:endParaRPr sz="1100"/>
          </a:p>
          <a:p>
            <a:pPr indent="0" lvl="0" marL="0" rtl="0" algn="l">
              <a:spcBef>
                <a:spcPts val="0"/>
              </a:spcBef>
              <a:spcAft>
                <a:spcPts val="0"/>
              </a:spcAft>
              <a:buNone/>
            </a:pPr>
            <a:r>
              <a:rPr lang="es" sz="1100"/>
              <a:t>Se realizaron las siguientes vistas:</a:t>
            </a:r>
            <a:endParaRPr sz="1100"/>
          </a:p>
          <a:p>
            <a:pPr indent="-298450" lvl="0" marL="457200" rtl="0" algn="l">
              <a:spcBef>
                <a:spcPts val="0"/>
              </a:spcBef>
              <a:spcAft>
                <a:spcPts val="0"/>
              </a:spcAft>
              <a:buSzPts val="1100"/>
              <a:buChar char="●"/>
            </a:pPr>
            <a:r>
              <a:rPr b="1" lang="es" sz="1100"/>
              <a:t>vistas_huespedes_hotel</a:t>
            </a:r>
            <a:endParaRPr b="1" sz="1100"/>
          </a:p>
          <a:p>
            <a:pPr indent="0" lvl="0" marL="457200" rtl="0" algn="l">
              <a:spcBef>
                <a:spcPts val="0"/>
              </a:spcBef>
              <a:spcAft>
                <a:spcPts val="0"/>
              </a:spcAft>
              <a:buNone/>
            </a:pPr>
            <a:r>
              <a:rPr lang="es" sz="1100"/>
              <a:t>Facilitar la consulta de ocupación del hotel, permitiendo visualizar rápidamente qué huéspedes están alojados y en qué habitaciones.</a:t>
            </a:r>
            <a:endParaRPr sz="1100"/>
          </a:p>
          <a:p>
            <a:pPr indent="-298450" lvl="0" marL="457200" rtl="0" algn="l">
              <a:spcBef>
                <a:spcPts val="0"/>
              </a:spcBef>
              <a:spcAft>
                <a:spcPts val="0"/>
              </a:spcAft>
              <a:buSzPts val="1100"/>
              <a:buChar char="●"/>
            </a:pPr>
            <a:r>
              <a:rPr b="1" lang="es" sz="1100"/>
              <a:t>vistas_actividades</a:t>
            </a:r>
            <a:endParaRPr b="1" sz="1100"/>
          </a:p>
          <a:p>
            <a:pPr indent="0" lvl="0" marL="457200" rtl="0" algn="l">
              <a:spcBef>
                <a:spcPts val="0"/>
              </a:spcBef>
              <a:spcAft>
                <a:spcPts val="0"/>
              </a:spcAft>
              <a:buNone/>
            </a:pPr>
            <a:r>
              <a:rPr lang="es" sz="1100"/>
              <a:t>Permitir una visualización completa de las actividades del hotel, facilitando la gestión y organización de las mismas.</a:t>
            </a:r>
            <a:endParaRPr sz="1100"/>
          </a:p>
          <a:p>
            <a:pPr indent="-298450" lvl="0" marL="457200" rtl="0" algn="l">
              <a:spcBef>
                <a:spcPts val="0"/>
              </a:spcBef>
              <a:spcAft>
                <a:spcPts val="0"/>
              </a:spcAft>
              <a:buSzPts val="1100"/>
              <a:buChar char="●"/>
            </a:pPr>
            <a:r>
              <a:rPr b="1" lang="es" sz="1100"/>
              <a:t>vistas_restaurante</a:t>
            </a:r>
            <a:endParaRPr b="1" sz="1100"/>
          </a:p>
          <a:p>
            <a:pPr indent="0" lvl="0" marL="457200" rtl="0" algn="l">
              <a:spcBef>
                <a:spcPts val="0"/>
              </a:spcBef>
              <a:spcAft>
                <a:spcPts val="0"/>
              </a:spcAft>
              <a:buNone/>
            </a:pPr>
            <a:r>
              <a:rPr lang="es" sz="1100"/>
              <a:t>Facilitar el control de reservas y la planificación del servicio gastronómico.</a:t>
            </a:r>
            <a:endParaRPr sz="1100"/>
          </a:p>
          <a:p>
            <a:pPr indent="-298450" lvl="0" marL="457200" rtl="0" algn="l">
              <a:spcBef>
                <a:spcPts val="0"/>
              </a:spcBef>
              <a:spcAft>
                <a:spcPts val="0"/>
              </a:spcAft>
              <a:buSzPts val="1100"/>
              <a:buChar char="●"/>
            </a:pPr>
            <a:r>
              <a:rPr lang="es" sz="1100"/>
              <a:t>vistas_ingresos_totales</a:t>
            </a:r>
            <a:endParaRPr sz="1100"/>
          </a:p>
          <a:p>
            <a:pPr indent="-298450" lvl="0" marL="457200" rtl="0" algn="l">
              <a:spcBef>
                <a:spcPts val="0"/>
              </a:spcBef>
              <a:spcAft>
                <a:spcPts val="0"/>
              </a:spcAft>
              <a:buSzPts val="1100"/>
              <a:buChar char="●"/>
            </a:pPr>
            <a:r>
              <a:rPr lang="es" sz="1100"/>
              <a:t>vistas_ingresos_por_dia</a:t>
            </a:r>
            <a:endParaRPr sz="1100"/>
          </a:p>
          <a:p>
            <a:pPr indent="-298450" lvl="0" marL="457200" rtl="0" algn="l">
              <a:spcBef>
                <a:spcPts val="0"/>
              </a:spcBef>
              <a:spcAft>
                <a:spcPts val="0"/>
              </a:spcAft>
              <a:buSzPts val="1100"/>
              <a:buChar char="●"/>
            </a:pPr>
            <a:r>
              <a:rPr lang="es" sz="1100"/>
              <a:t>vistas_actividades_populares</a:t>
            </a:r>
            <a:endParaRPr sz="1100"/>
          </a:p>
          <a:p>
            <a:pPr indent="-298450" lvl="0" marL="457200" rtl="0" algn="l">
              <a:spcBef>
                <a:spcPts val="0"/>
              </a:spcBef>
              <a:spcAft>
                <a:spcPts val="0"/>
              </a:spcAft>
              <a:buSzPts val="1100"/>
              <a:buChar char="●"/>
            </a:pPr>
            <a:r>
              <a:rPr lang="es" sz="1100"/>
              <a:t>vistas_ocupación_hotel </a:t>
            </a:r>
            <a:endParaRPr sz="1100"/>
          </a:p>
          <a:p>
            <a:pPr indent="-298450" lvl="0" marL="457200" rtl="0" algn="l">
              <a:spcBef>
                <a:spcPts val="0"/>
              </a:spcBef>
              <a:spcAft>
                <a:spcPts val="0"/>
              </a:spcAft>
              <a:buSzPts val="1100"/>
              <a:buChar char="●"/>
            </a:pPr>
            <a:r>
              <a:rPr lang="es" sz="1100"/>
              <a:t>vistas_stock_producto</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b="1" sz="1100">
              <a:solidFill>
                <a:schemeClr val="dk2"/>
              </a:solidFill>
            </a:endParaRPr>
          </a:p>
          <a:p>
            <a:pPr indent="0" lvl="0" marL="0" rtl="0" algn="l">
              <a:spcBef>
                <a:spcPts val="0"/>
              </a:spcBef>
              <a:spcAft>
                <a:spcPts val="1600"/>
              </a:spcAft>
              <a:buNone/>
            </a:pPr>
            <a:r>
              <a:t/>
            </a:r>
            <a:endParaRPr sz="1100"/>
          </a:p>
        </p:txBody>
      </p:sp>
      <p:sp>
        <p:nvSpPr>
          <p:cNvPr id="334" name="Google Shape;334;p39"/>
          <p:cNvSpPr txBox="1"/>
          <p:nvPr>
            <p:ph type="title"/>
          </p:nvPr>
        </p:nvSpPr>
        <p:spPr>
          <a:xfrm>
            <a:off x="721225" y="543600"/>
            <a:ext cx="4003500" cy="5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VISTAS</a:t>
            </a:r>
            <a:endParaRPr b="0"/>
          </a:p>
        </p:txBody>
      </p:sp>
      <p:pic>
        <p:nvPicPr>
          <p:cNvPr descr="Rural road in winter with snow plowed (proporcionado por Getty Images)" id="335" name="Google Shape;335;p39"/>
          <p:cNvPicPr preferRelativeResize="0"/>
          <p:nvPr/>
        </p:nvPicPr>
        <p:blipFill rotWithShape="1">
          <a:blip r:embed="rId3">
            <a:alphaModFix amt="25000"/>
          </a:blip>
          <a:srcRect b="0" l="0" r="0" t="0"/>
          <a:stretch/>
        </p:blipFill>
        <p:spPr>
          <a:xfrm>
            <a:off x="3" y="486183"/>
            <a:ext cx="9143998" cy="465731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0"/>
          <p:cNvSpPr txBox="1"/>
          <p:nvPr>
            <p:ph type="title"/>
          </p:nvPr>
        </p:nvSpPr>
        <p:spPr>
          <a:xfrm>
            <a:off x="710300" y="661050"/>
            <a:ext cx="27999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000000"/>
                </a:solidFill>
              </a:rPr>
              <a:t>FUNCIONES</a:t>
            </a:r>
            <a:endParaRPr/>
          </a:p>
        </p:txBody>
      </p:sp>
      <p:sp>
        <p:nvSpPr>
          <p:cNvPr id="341" name="Google Shape;341;p40"/>
          <p:cNvSpPr txBox="1"/>
          <p:nvPr>
            <p:ph idx="1" type="body"/>
          </p:nvPr>
        </p:nvSpPr>
        <p:spPr>
          <a:xfrm>
            <a:off x="845675" y="1432700"/>
            <a:ext cx="7611900" cy="2482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s" sz="1100"/>
              <a:t>TOTAL HUESPEDES </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rPr>
              <a:t>Esta función devuelve el número total de huéspedes registrados en la base de datos.</a:t>
            </a:r>
            <a:endParaRPr sz="1100"/>
          </a:p>
          <a:p>
            <a:pPr indent="0" lvl="0" marL="457200" rtl="0" algn="l">
              <a:spcBef>
                <a:spcPts val="1600"/>
              </a:spcBef>
              <a:spcAft>
                <a:spcPts val="0"/>
              </a:spcAft>
              <a:buNone/>
            </a:pPr>
            <a:r>
              <a:rPr lang="es" sz="1100"/>
              <a:t>Objetivo: </a:t>
            </a:r>
            <a:r>
              <a:rPr lang="es" sz="1100">
                <a:solidFill>
                  <a:srgbClr val="000000"/>
                </a:solidFill>
              </a:rPr>
              <a:t> Permitir obtener rápidamente una métrica general de ocupación del hotel.</a:t>
            </a:r>
            <a:endParaRPr sz="1100"/>
          </a:p>
          <a:p>
            <a:pPr indent="-298450" lvl="0" marL="457200" rtl="0" algn="l">
              <a:spcBef>
                <a:spcPts val="1600"/>
              </a:spcBef>
              <a:spcAft>
                <a:spcPts val="0"/>
              </a:spcAft>
              <a:buSzPts val="1100"/>
              <a:buChar char="●"/>
            </a:pPr>
            <a:r>
              <a:rPr lang="es" sz="1100"/>
              <a:t>ACTIVIDADES POR CLIENTES</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Esta función recibe como parámetro el ID de un cliente y devuelve la cantidad de actividades en las que ha participado.</a:t>
            </a:r>
            <a:endParaRPr sz="1100"/>
          </a:p>
          <a:p>
            <a:pPr indent="0" lvl="0" marL="457200" rtl="0" algn="l">
              <a:spcBef>
                <a:spcPts val="1600"/>
              </a:spcBef>
              <a:spcAft>
                <a:spcPts val="0"/>
              </a:spcAft>
              <a:buNone/>
            </a:pPr>
            <a:r>
              <a:rPr lang="es" sz="1100"/>
              <a:t>Objetivo: </a:t>
            </a:r>
            <a:r>
              <a:rPr lang="es" sz="1100">
                <a:solidFill>
                  <a:srgbClr val="000000"/>
                </a:solidFill>
                <a:latin typeface="Arial"/>
                <a:ea typeface="Arial"/>
                <a:cs typeface="Arial"/>
                <a:sym typeface="Arial"/>
              </a:rPr>
              <a:t> Facilitar el análisis de participación de los clientes en las actividades ofrecidas por el hotel.</a:t>
            </a:r>
            <a:endParaRPr sz="1100">
              <a:solidFill>
                <a:srgbClr val="000000"/>
              </a:solidFill>
              <a:latin typeface="Arial"/>
              <a:ea typeface="Arial"/>
              <a:cs typeface="Arial"/>
              <a:sym typeface="Arial"/>
            </a:endParaRPr>
          </a:p>
          <a:p>
            <a:pPr indent="0" lvl="0" marL="457200" rtl="0" algn="l">
              <a:spcBef>
                <a:spcPts val="1600"/>
              </a:spcBef>
              <a:spcAft>
                <a:spcPts val="160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1"/>
          <p:cNvSpPr txBox="1"/>
          <p:nvPr>
            <p:ph type="title"/>
          </p:nvPr>
        </p:nvSpPr>
        <p:spPr>
          <a:xfrm>
            <a:off x="704775" y="637550"/>
            <a:ext cx="39948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000000"/>
                </a:solidFill>
              </a:rPr>
              <a:t>STORED PROCEDURES</a:t>
            </a:r>
            <a:endParaRPr/>
          </a:p>
        </p:txBody>
      </p:sp>
      <p:sp>
        <p:nvSpPr>
          <p:cNvPr id="347" name="Google Shape;347;p41"/>
          <p:cNvSpPr txBox="1"/>
          <p:nvPr>
            <p:ph idx="1" type="body"/>
          </p:nvPr>
        </p:nvSpPr>
        <p:spPr>
          <a:xfrm>
            <a:off x="845675" y="1432700"/>
            <a:ext cx="7611900" cy="37107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s" sz="1100"/>
              <a:t>AGREGAR CLIENTE</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rPr>
              <a:t>Este procedimiento permite insertar un nuevo cliente en la base de datos mediante el ingreso de sus datos personales.</a:t>
            </a:r>
            <a:endParaRPr sz="1100">
              <a:solidFill>
                <a:srgbClr val="000000"/>
              </a:solidFill>
            </a:endParaRPr>
          </a:p>
          <a:p>
            <a:pPr indent="0" lvl="0" marL="457200" rtl="0" algn="l">
              <a:spcBef>
                <a:spcPts val="1600"/>
              </a:spcBef>
              <a:spcAft>
                <a:spcPts val="0"/>
              </a:spcAft>
              <a:buNone/>
            </a:pPr>
            <a:r>
              <a:rPr lang="es" sz="1100"/>
              <a:t>Objetivo: </a:t>
            </a:r>
            <a:r>
              <a:rPr lang="es" sz="1100">
                <a:solidFill>
                  <a:srgbClr val="000000"/>
                </a:solidFill>
              </a:rPr>
              <a:t> </a:t>
            </a:r>
            <a:r>
              <a:rPr lang="es" sz="1100">
                <a:solidFill>
                  <a:srgbClr val="000000"/>
                </a:solidFill>
              </a:rPr>
              <a:t>Automatizar el registro de clientes, evitando errores manuales y simplificando el proceso de carga de datos.</a:t>
            </a:r>
            <a:endParaRPr sz="1100">
              <a:solidFill>
                <a:srgbClr val="000000"/>
              </a:solidFill>
            </a:endParaRPr>
          </a:p>
          <a:p>
            <a:pPr indent="0" lvl="0" marL="457200" rtl="0" algn="l">
              <a:spcBef>
                <a:spcPts val="1600"/>
              </a:spcBef>
              <a:spcAft>
                <a:spcPts val="0"/>
              </a:spcAft>
              <a:buNone/>
            </a:pPr>
            <a:r>
              <a:rPr lang="es" sz="1100"/>
              <a:t>Tabla utilizada: </a:t>
            </a:r>
            <a:r>
              <a:rPr lang="es" sz="1100">
                <a:solidFill>
                  <a:schemeClr val="dk2"/>
                </a:solidFill>
              </a:rPr>
              <a:t>Clientes</a:t>
            </a:r>
            <a:endParaRPr sz="1100">
              <a:solidFill>
                <a:schemeClr val="dk2"/>
              </a:solidFill>
            </a:endParaRPr>
          </a:p>
          <a:p>
            <a:pPr indent="-298450" lvl="0" marL="457200" rtl="0" algn="l">
              <a:spcBef>
                <a:spcPts val="1600"/>
              </a:spcBef>
              <a:spcAft>
                <a:spcPts val="0"/>
              </a:spcAft>
              <a:buSzPts val="1100"/>
              <a:buChar char="●"/>
            </a:pPr>
            <a:r>
              <a:rPr lang="es" sz="1100"/>
              <a:t>VER ACTIVIDADES  CLIENTE</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Este procedimiento recibe como parámetro el ID de un cliente y devuelve todas las actividades en las que ha participado.</a:t>
            </a:r>
            <a:endParaRPr sz="1100"/>
          </a:p>
          <a:p>
            <a:pPr indent="0" lvl="0" marL="457200" rtl="0" algn="l">
              <a:spcBef>
                <a:spcPts val="1600"/>
              </a:spcBef>
              <a:spcAft>
                <a:spcPts val="0"/>
              </a:spcAft>
              <a:buNone/>
            </a:pPr>
            <a:r>
              <a:rPr lang="es" sz="1100"/>
              <a:t>Objetivo: </a:t>
            </a:r>
            <a:r>
              <a:rPr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Permitir consultas específicas sobre la actividad de un cliente dentro del sistema.</a:t>
            </a:r>
            <a:endParaRPr sz="1100">
              <a:solidFill>
                <a:srgbClr val="000000"/>
              </a:solidFill>
              <a:latin typeface="Arial"/>
              <a:ea typeface="Arial"/>
              <a:cs typeface="Arial"/>
              <a:sym typeface="Arial"/>
            </a:endParaRPr>
          </a:p>
          <a:p>
            <a:pPr indent="0" lvl="0" marL="457200" rtl="0" algn="l">
              <a:spcBef>
                <a:spcPts val="1600"/>
              </a:spcBef>
              <a:spcAft>
                <a:spcPts val="1600"/>
              </a:spcAft>
              <a:buNone/>
            </a:pPr>
            <a:r>
              <a:rPr lang="es" sz="1100">
                <a:latin typeface="Arial"/>
                <a:ea typeface="Arial"/>
                <a:cs typeface="Arial"/>
                <a:sym typeface="Arial"/>
              </a:rPr>
              <a:t>Tabla utilizada:</a:t>
            </a:r>
            <a:r>
              <a:rPr lang="es" sz="1100">
                <a:solidFill>
                  <a:schemeClr val="dk2"/>
                </a:solidFill>
                <a:latin typeface="Arial"/>
                <a:ea typeface="Arial"/>
                <a:cs typeface="Arial"/>
                <a:sym typeface="Arial"/>
              </a:rPr>
              <a:t> Actividades </a:t>
            </a:r>
            <a:endParaRPr sz="1100">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2"/>
          <p:cNvSpPr txBox="1"/>
          <p:nvPr>
            <p:ph type="title"/>
          </p:nvPr>
        </p:nvSpPr>
        <p:spPr>
          <a:xfrm>
            <a:off x="704775" y="637550"/>
            <a:ext cx="3994800" cy="10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000000"/>
                </a:solidFill>
              </a:rPr>
              <a:t>TRIGGER</a:t>
            </a:r>
            <a:endParaRPr/>
          </a:p>
        </p:txBody>
      </p:sp>
      <p:sp>
        <p:nvSpPr>
          <p:cNvPr id="353" name="Google Shape;353;p42"/>
          <p:cNvSpPr txBox="1"/>
          <p:nvPr>
            <p:ph idx="1" type="body"/>
          </p:nvPr>
        </p:nvSpPr>
        <p:spPr>
          <a:xfrm>
            <a:off x="845675" y="1432700"/>
            <a:ext cx="7611900" cy="37107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s" sz="1100"/>
              <a:t>ACTUALIZAR STOCK PROVEEDOR </a:t>
            </a:r>
            <a:endParaRPr sz="1100"/>
          </a:p>
          <a:p>
            <a:pPr indent="0" lvl="0" marL="457200" rtl="0" algn="l">
              <a:spcBef>
                <a:spcPts val="1600"/>
              </a:spcBef>
              <a:spcAft>
                <a:spcPts val="0"/>
              </a:spcAft>
              <a:buNone/>
            </a:pPr>
            <a:r>
              <a:rPr lang="es" sz="1100"/>
              <a:t>Descripción: </a:t>
            </a:r>
            <a:r>
              <a:rPr lang="es" sz="1100">
                <a:solidFill>
                  <a:srgbClr val="000000"/>
                </a:solidFill>
                <a:latin typeface="Arial"/>
                <a:ea typeface="Arial"/>
                <a:cs typeface="Arial"/>
                <a:sym typeface="Arial"/>
              </a:rPr>
              <a:t> </a:t>
            </a:r>
            <a:r>
              <a:rPr lang="es" sz="1100">
                <a:solidFill>
                  <a:srgbClr val="000000"/>
                </a:solidFill>
              </a:rPr>
              <a:t>Este trigger se ejecuta automáticamente después de insertar un nuevo producto en la tabla productos. Su función es actualizar el stock del proveedor correspondiente.</a:t>
            </a:r>
            <a:endParaRPr sz="1100">
              <a:solidFill>
                <a:srgbClr val="000000"/>
              </a:solidFill>
            </a:endParaRPr>
          </a:p>
          <a:p>
            <a:pPr indent="0" lvl="0" marL="457200" rtl="0" algn="l">
              <a:spcBef>
                <a:spcPts val="1600"/>
              </a:spcBef>
              <a:spcAft>
                <a:spcPts val="0"/>
              </a:spcAft>
              <a:buNone/>
            </a:pPr>
            <a:r>
              <a:rPr lang="es" sz="1100"/>
              <a:t>Objetivo: </a:t>
            </a:r>
            <a:r>
              <a:rPr lang="es" sz="1100">
                <a:solidFill>
                  <a:srgbClr val="000000"/>
                </a:solidFill>
              </a:rPr>
              <a:t> </a:t>
            </a:r>
            <a:r>
              <a:rPr lang="es" sz="1100">
                <a:solidFill>
                  <a:srgbClr val="000000"/>
                </a:solidFill>
              </a:rPr>
              <a:t>Mantener actualizado el inventario de los proveedores de manera automática, evitando inconsistencias en los datos.</a:t>
            </a:r>
            <a:endParaRPr sz="1100">
              <a:solidFill>
                <a:srgbClr val="000000"/>
              </a:solidFill>
            </a:endParaRPr>
          </a:p>
          <a:p>
            <a:pPr indent="0" lvl="0" marL="457200" rtl="0" algn="l">
              <a:spcBef>
                <a:spcPts val="1600"/>
              </a:spcBef>
              <a:spcAft>
                <a:spcPts val="0"/>
              </a:spcAft>
              <a:buNone/>
            </a:pPr>
            <a:r>
              <a:rPr lang="es" sz="1100"/>
              <a:t>Tablas utilizada: </a:t>
            </a:r>
            <a:r>
              <a:rPr lang="es" sz="1100">
                <a:solidFill>
                  <a:schemeClr val="dk2"/>
                </a:solidFill>
              </a:rPr>
              <a:t>Productos-proveedores </a:t>
            </a:r>
            <a:endParaRPr sz="1100">
              <a:solidFill>
                <a:schemeClr val="dk2"/>
              </a:solidFill>
            </a:endParaRPr>
          </a:p>
          <a:p>
            <a:pPr indent="0" lvl="0" marL="0" rtl="0" algn="l">
              <a:spcBef>
                <a:spcPts val="1600"/>
              </a:spcBef>
              <a:spcAft>
                <a:spcPts val="1600"/>
              </a:spcAft>
              <a:buNone/>
            </a:pPr>
            <a:r>
              <a:t/>
            </a:r>
            <a:endParaRPr sz="110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txBox="1"/>
          <p:nvPr>
            <p:ph type="title"/>
          </p:nvPr>
        </p:nvSpPr>
        <p:spPr>
          <a:xfrm>
            <a:off x="734525" y="606550"/>
            <a:ext cx="6390000" cy="5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TCL - CONTROL DE TRANSACCIONES</a:t>
            </a:r>
            <a:endParaRPr/>
          </a:p>
        </p:txBody>
      </p:sp>
      <p:sp>
        <p:nvSpPr>
          <p:cNvPr id="359" name="Google Shape;359;p43"/>
          <p:cNvSpPr txBox="1"/>
          <p:nvPr/>
        </p:nvSpPr>
        <p:spPr>
          <a:xfrm>
            <a:off x="734520" y="1603525"/>
            <a:ext cx="7464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000">
                <a:solidFill>
                  <a:schemeClr val="dk1"/>
                </a:solidFill>
                <a:latin typeface="Lato"/>
                <a:ea typeface="Lato"/>
                <a:cs typeface="Lato"/>
                <a:sym typeface="Lato"/>
              </a:rPr>
              <a:t> </a:t>
            </a:r>
            <a:r>
              <a:rPr lang="es" sz="1000">
                <a:solidFill>
                  <a:srgbClr val="000000"/>
                </a:solidFill>
                <a:latin typeface="Lato"/>
                <a:ea typeface="Lato"/>
                <a:cs typeface="Lato"/>
                <a:sym typeface="Lato"/>
              </a:rPr>
              <a:t> </a:t>
            </a:r>
            <a:r>
              <a:rPr lang="es" sz="1000">
                <a:latin typeface="Lato"/>
                <a:ea typeface="Lato"/>
                <a:cs typeface="Lato"/>
                <a:sym typeface="Lato"/>
              </a:rPr>
              <a:t>Se utilizaron transacciones para asegurar que los cambios en la base se realicen de forma segura.</a:t>
            </a:r>
            <a:endParaRPr sz="1000">
              <a:latin typeface="Lato"/>
              <a:ea typeface="Lato"/>
              <a:cs typeface="Lato"/>
              <a:sym typeface="Lato"/>
            </a:endParaRPr>
          </a:p>
          <a:p>
            <a:pPr indent="-292100" lvl="0" marL="457200" rtl="0" algn="l">
              <a:lnSpc>
                <a:spcPct val="115000"/>
              </a:lnSpc>
              <a:spcBef>
                <a:spcPts val="1600"/>
              </a:spcBef>
              <a:spcAft>
                <a:spcPts val="0"/>
              </a:spcAft>
              <a:buSzPts val="1000"/>
              <a:buFont typeface="Lato"/>
              <a:buChar char="●"/>
            </a:pPr>
            <a:r>
              <a:rPr lang="es" sz="1000">
                <a:latin typeface="Lato"/>
                <a:ea typeface="Lato"/>
                <a:cs typeface="Lato"/>
                <a:sym typeface="Lato"/>
              </a:rPr>
              <a:t>Permite gestionar transacciones en la base de datos</a:t>
            </a:r>
            <a:endParaRPr sz="1000">
              <a:latin typeface="Lato"/>
              <a:ea typeface="Lato"/>
              <a:cs typeface="Lato"/>
              <a:sym typeface="Lato"/>
            </a:endParaRPr>
          </a:p>
          <a:p>
            <a:pPr indent="-292100" lvl="0" marL="457200" rtl="0" algn="l">
              <a:lnSpc>
                <a:spcPct val="115000"/>
              </a:lnSpc>
              <a:spcBef>
                <a:spcPts val="0"/>
              </a:spcBef>
              <a:spcAft>
                <a:spcPts val="0"/>
              </a:spcAft>
              <a:buSzPts val="1000"/>
              <a:buFont typeface="Lato"/>
              <a:buChar char="●"/>
            </a:pPr>
            <a:r>
              <a:rPr lang="es" sz="1000">
                <a:latin typeface="Lato"/>
                <a:ea typeface="Lato"/>
                <a:cs typeface="Lato"/>
                <a:sym typeface="Lato"/>
              </a:rPr>
              <a:t>Asegura la integridad de la información </a:t>
            </a:r>
            <a:endParaRPr sz="1000">
              <a:latin typeface="Lato"/>
              <a:ea typeface="Lato"/>
              <a:cs typeface="Lato"/>
              <a:sym typeface="Lato"/>
            </a:endParaRPr>
          </a:p>
        </p:txBody>
      </p:sp>
      <p:pic>
        <p:nvPicPr>
          <p:cNvPr id="360" name="Google Shape;360;p43"/>
          <p:cNvPicPr preferRelativeResize="0"/>
          <p:nvPr/>
        </p:nvPicPr>
        <p:blipFill>
          <a:blip r:embed="rId3">
            <a:alphaModFix/>
          </a:blip>
          <a:stretch>
            <a:fillRect/>
          </a:stretch>
        </p:blipFill>
        <p:spPr>
          <a:xfrm>
            <a:off x="939175" y="2737725"/>
            <a:ext cx="6953250" cy="1552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ph type="title"/>
          </p:nvPr>
        </p:nvSpPr>
        <p:spPr>
          <a:xfrm>
            <a:off x="734525" y="606550"/>
            <a:ext cx="6390000" cy="5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DCL - CONTROL DE ACCESO </a:t>
            </a:r>
            <a:endParaRPr/>
          </a:p>
        </p:txBody>
      </p:sp>
      <p:sp>
        <p:nvSpPr>
          <p:cNvPr id="366" name="Google Shape;366;p44"/>
          <p:cNvSpPr txBox="1"/>
          <p:nvPr/>
        </p:nvSpPr>
        <p:spPr>
          <a:xfrm>
            <a:off x="734520" y="1603525"/>
            <a:ext cx="7464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000">
                <a:solidFill>
                  <a:schemeClr val="dk1"/>
                </a:solidFill>
                <a:latin typeface="Lato"/>
                <a:ea typeface="Lato"/>
                <a:cs typeface="Lato"/>
                <a:sym typeface="Lato"/>
              </a:rPr>
              <a:t> </a:t>
            </a:r>
            <a:r>
              <a:rPr lang="es" sz="1000">
                <a:solidFill>
                  <a:srgbClr val="000000"/>
                </a:solidFill>
                <a:latin typeface="Lato"/>
                <a:ea typeface="Lato"/>
                <a:cs typeface="Lato"/>
                <a:sym typeface="Lato"/>
              </a:rPr>
              <a:t> </a:t>
            </a:r>
            <a:r>
              <a:rPr lang="es" sz="1000">
                <a:latin typeface="Lato"/>
                <a:ea typeface="Lato"/>
                <a:cs typeface="Lato"/>
                <a:sym typeface="Lato"/>
              </a:rPr>
              <a:t>Se implementan permisos para controlar el acceso a la información.</a:t>
            </a:r>
            <a:endParaRPr sz="1000">
              <a:latin typeface="Lato"/>
              <a:ea typeface="Lato"/>
              <a:cs typeface="Lato"/>
              <a:sym typeface="Lato"/>
            </a:endParaRPr>
          </a:p>
          <a:p>
            <a:pPr indent="-292100" lvl="0" marL="457200" rtl="0" algn="l">
              <a:lnSpc>
                <a:spcPct val="115000"/>
              </a:lnSpc>
              <a:spcBef>
                <a:spcPts val="1600"/>
              </a:spcBef>
              <a:spcAft>
                <a:spcPts val="0"/>
              </a:spcAft>
              <a:buSzPts val="1000"/>
              <a:buFont typeface="Lato"/>
              <a:buChar char="●"/>
            </a:pPr>
            <a:r>
              <a:rPr lang="es" sz="1000">
                <a:latin typeface="Lato"/>
                <a:ea typeface="Lato"/>
                <a:cs typeface="Lato"/>
                <a:sym typeface="Lato"/>
              </a:rPr>
              <a:t>Permite gestionar permisos de usuarios</a:t>
            </a:r>
            <a:endParaRPr sz="1000">
              <a:latin typeface="Lato"/>
              <a:ea typeface="Lato"/>
              <a:cs typeface="Lato"/>
              <a:sym typeface="Lato"/>
            </a:endParaRPr>
          </a:p>
          <a:p>
            <a:pPr indent="-292100" lvl="0" marL="457200" rtl="0" algn="l">
              <a:lnSpc>
                <a:spcPct val="115000"/>
              </a:lnSpc>
              <a:spcBef>
                <a:spcPts val="0"/>
              </a:spcBef>
              <a:spcAft>
                <a:spcPts val="0"/>
              </a:spcAft>
              <a:buSzPts val="1000"/>
              <a:buFont typeface="Lato"/>
              <a:buChar char="●"/>
            </a:pPr>
            <a:r>
              <a:rPr lang="es" sz="1000">
                <a:latin typeface="Lato"/>
                <a:ea typeface="Lato"/>
                <a:cs typeface="Lato"/>
                <a:sym typeface="Lato"/>
              </a:rPr>
              <a:t>Mejora la seguridad de la base de datos</a:t>
            </a:r>
            <a:endParaRPr sz="1000">
              <a:latin typeface="Lato"/>
              <a:ea typeface="Lato"/>
              <a:cs typeface="Lato"/>
              <a:sym typeface="Lato"/>
            </a:endParaRPr>
          </a:p>
        </p:txBody>
      </p:sp>
      <p:pic>
        <p:nvPicPr>
          <p:cNvPr id="367" name="Google Shape;367;p44"/>
          <p:cNvPicPr preferRelativeResize="0"/>
          <p:nvPr/>
        </p:nvPicPr>
        <p:blipFill>
          <a:blip r:embed="rId3">
            <a:alphaModFix/>
          </a:blip>
          <a:stretch>
            <a:fillRect/>
          </a:stretch>
        </p:blipFill>
        <p:spPr>
          <a:xfrm>
            <a:off x="585388" y="3038900"/>
            <a:ext cx="7762875" cy="542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708059" y="606475"/>
            <a:ext cx="5466900" cy="55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HERRAMIENTAS USADAS </a:t>
            </a:r>
            <a:endParaRPr b="0"/>
          </a:p>
        </p:txBody>
      </p:sp>
      <p:pic>
        <p:nvPicPr>
          <p:cNvPr id="373" name="Google Shape;373;p45"/>
          <p:cNvPicPr preferRelativeResize="0"/>
          <p:nvPr/>
        </p:nvPicPr>
        <p:blipFill>
          <a:blip r:embed="rId3">
            <a:alphaModFix/>
          </a:blip>
          <a:stretch>
            <a:fillRect/>
          </a:stretch>
        </p:blipFill>
        <p:spPr>
          <a:xfrm>
            <a:off x="4211350" y="1957388"/>
            <a:ext cx="1752600" cy="1609725"/>
          </a:xfrm>
          <a:prstGeom prst="rect">
            <a:avLst/>
          </a:prstGeom>
          <a:noFill/>
          <a:ln>
            <a:noFill/>
          </a:ln>
        </p:spPr>
      </p:pic>
      <p:pic>
        <p:nvPicPr>
          <p:cNvPr id="374" name="Google Shape;374;p45"/>
          <p:cNvPicPr preferRelativeResize="0"/>
          <p:nvPr/>
        </p:nvPicPr>
        <p:blipFill>
          <a:blip r:embed="rId4">
            <a:alphaModFix/>
          </a:blip>
          <a:stretch>
            <a:fillRect/>
          </a:stretch>
        </p:blipFill>
        <p:spPr>
          <a:xfrm>
            <a:off x="6831650" y="1995500"/>
            <a:ext cx="1781175" cy="1533525"/>
          </a:xfrm>
          <a:prstGeom prst="rect">
            <a:avLst/>
          </a:prstGeom>
          <a:noFill/>
          <a:ln>
            <a:noFill/>
          </a:ln>
        </p:spPr>
      </p:pic>
      <p:pic>
        <p:nvPicPr>
          <p:cNvPr id="375" name="Google Shape;375;p45"/>
          <p:cNvPicPr preferRelativeResize="0"/>
          <p:nvPr/>
        </p:nvPicPr>
        <p:blipFill>
          <a:blip r:embed="rId5">
            <a:alphaModFix/>
          </a:blip>
          <a:stretch>
            <a:fillRect/>
          </a:stretch>
        </p:blipFill>
        <p:spPr>
          <a:xfrm>
            <a:off x="523425" y="2105038"/>
            <a:ext cx="3009622" cy="1462088"/>
          </a:xfrm>
          <a:prstGeom prst="rect">
            <a:avLst/>
          </a:prstGeom>
          <a:noFill/>
          <a:ln>
            <a:noFill/>
          </a:ln>
        </p:spPr>
      </p:pic>
      <p:sp>
        <p:nvSpPr>
          <p:cNvPr id="376" name="Google Shape;376;p45"/>
          <p:cNvSpPr txBox="1"/>
          <p:nvPr/>
        </p:nvSpPr>
        <p:spPr>
          <a:xfrm>
            <a:off x="1031325" y="3961825"/>
            <a:ext cx="2294700" cy="3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MySQL Workbench</a:t>
            </a:r>
            <a:endParaRPr sz="1300">
              <a:solidFill>
                <a:schemeClr val="accent1"/>
              </a:solidFill>
              <a:latin typeface="Lato"/>
              <a:ea typeface="Lato"/>
              <a:cs typeface="Lato"/>
              <a:sym typeface="Lato"/>
            </a:endParaRPr>
          </a:p>
        </p:txBody>
      </p:sp>
      <p:sp>
        <p:nvSpPr>
          <p:cNvPr id="377" name="Google Shape;377;p45"/>
          <p:cNvSpPr txBox="1"/>
          <p:nvPr/>
        </p:nvSpPr>
        <p:spPr>
          <a:xfrm>
            <a:off x="3931488" y="3961825"/>
            <a:ext cx="2294700" cy="3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Google Slides</a:t>
            </a:r>
            <a:endParaRPr sz="1300">
              <a:solidFill>
                <a:schemeClr val="accent1"/>
              </a:solidFill>
              <a:latin typeface="Lato"/>
              <a:ea typeface="Lato"/>
              <a:cs typeface="Lato"/>
              <a:sym typeface="Lato"/>
            </a:endParaRPr>
          </a:p>
        </p:txBody>
      </p:sp>
      <p:sp>
        <p:nvSpPr>
          <p:cNvPr id="378" name="Google Shape;378;p45"/>
          <p:cNvSpPr txBox="1"/>
          <p:nvPr/>
        </p:nvSpPr>
        <p:spPr>
          <a:xfrm>
            <a:off x="6660200" y="3961825"/>
            <a:ext cx="2294700" cy="3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300">
                <a:solidFill>
                  <a:schemeClr val="accent1"/>
                </a:solidFill>
                <a:latin typeface="Lato"/>
                <a:ea typeface="Lato"/>
                <a:cs typeface="Lato"/>
                <a:sym typeface="Lato"/>
              </a:rPr>
              <a:t>Excel</a:t>
            </a:r>
            <a:endParaRPr sz="1300">
              <a:solidFill>
                <a:schemeClr val="accent1"/>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6"/>
          <p:cNvSpPr txBox="1"/>
          <p:nvPr>
            <p:ph type="title"/>
          </p:nvPr>
        </p:nvSpPr>
        <p:spPr>
          <a:xfrm>
            <a:off x="708059" y="606475"/>
            <a:ext cx="5466900" cy="55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CONCLUSIÓN </a:t>
            </a:r>
            <a:endParaRPr b="0"/>
          </a:p>
        </p:txBody>
      </p:sp>
      <p:sp>
        <p:nvSpPr>
          <p:cNvPr id="384" name="Google Shape;384;p46"/>
          <p:cNvSpPr txBox="1"/>
          <p:nvPr/>
        </p:nvSpPr>
        <p:spPr>
          <a:xfrm>
            <a:off x="804500" y="1780425"/>
            <a:ext cx="72696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Lato"/>
                <a:ea typeface="Lato"/>
                <a:cs typeface="Lato"/>
                <a:sym typeface="Lato"/>
              </a:rPr>
              <a:t>Este proyecto no solo permite gestionar la información del hotel, sino también analizarla para mejorar la toma de decisiones.</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El proyecto permitió transformar datos en información útil</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Se optimizó la gestión operativa del hotel</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Se redujeron errores mediante automatización</a:t>
            </a:r>
            <a:endParaRPr>
              <a:latin typeface="Lato"/>
              <a:ea typeface="Lato"/>
              <a:cs typeface="Lato"/>
              <a:sym typeface="Lato"/>
            </a:endParaRPr>
          </a:p>
          <a:p>
            <a:pPr indent="-317500" lvl="0" marL="457200" rtl="0" algn="l">
              <a:spcBef>
                <a:spcPts val="0"/>
              </a:spcBef>
              <a:spcAft>
                <a:spcPts val="0"/>
              </a:spcAft>
              <a:buSzPts val="1400"/>
              <a:buFont typeface="Lato"/>
              <a:buChar char="●"/>
            </a:pPr>
            <a:r>
              <a:rPr lang="es">
                <a:latin typeface="Lato"/>
                <a:ea typeface="Lato"/>
                <a:cs typeface="Lato"/>
                <a:sym typeface="Lato"/>
              </a:rPr>
              <a:t>Se generaron análisis que aportan valor al negocio</a:t>
            </a:r>
            <a:endParaRPr>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7"/>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4800">
                <a:solidFill>
                  <a:srgbClr val="000000"/>
                </a:solidFill>
              </a:rPr>
              <a:t>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